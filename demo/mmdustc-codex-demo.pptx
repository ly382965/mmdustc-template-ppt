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art1.svg" ContentType="image/svg+xml"/>
  <Override PartName="/ppt/media/art10.svg" ContentType="image/svg+xml"/>
  <Override PartName="/ppt/media/art11.svg" ContentType="image/svg+xml"/>
  <Override PartName="/ppt/media/art12.svg" ContentType="image/svg+xml"/>
  <Override PartName="/ppt/media/art13.svg" ContentType="image/svg+xml"/>
  <Override PartName="/ppt/media/art14.svg" ContentType="image/svg+xml"/>
  <Override PartName="/ppt/media/art15.svg" ContentType="image/svg+xml"/>
  <Override PartName="/ppt/media/art16.svg" ContentType="image/svg+xml"/>
  <Override PartName="/ppt/media/art17.svg" ContentType="image/svg+xml"/>
  <Override PartName="/ppt/media/art18.svg" ContentType="image/svg+xml"/>
  <Override PartName="/ppt/media/art19.svg" ContentType="image/svg+xml"/>
  <Override PartName="/ppt/media/art2.svg" ContentType="image/svg+xml"/>
  <Override PartName="/ppt/media/art20.svg" ContentType="image/svg+xml"/>
  <Override PartName="/ppt/media/art21.svg" ContentType="image/svg+xml"/>
  <Override PartName="/ppt/media/art22.svg" ContentType="image/svg+xml"/>
  <Override PartName="/ppt/media/art3.svg" ContentType="image/svg+xml"/>
  <Override PartName="/ppt/media/art4.svg" ContentType="image/svg+xml"/>
  <Override PartName="/ppt/media/art5.svg" ContentType="image/svg+xml"/>
  <Override PartName="/ppt/media/art6.svg" ContentType="image/svg+xml"/>
  <Override PartName="/ppt/media/art7.svg" ContentType="image/svg+xml"/>
  <Override PartName="/ppt/media/art8.svg" ContentType="image/svg+xml"/>
  <Override PartName="/ppt/media/art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本文</c:v>
                </c:pt>
              </c:strCache>
            </c:strRef>
          </c:tx>
          <c:spPr>
            <a:ln w="31750">
              <a:solidFill>
                <a:srgbClr val="A8533A"/>
              </a:solidFill>
            </a:ln>
          </c:spPr>
          <c:marker>
            <c:symbol val="circle"/>
            <c:size val="8"/>
            <c:spPr>
              <a:solidFill>
                <a:srgbClr val="A8533A"/>
              </a:solidFill>
              <a:ln w="15875">
                <a:solidFill>
                  <a:srgbClr val="A8533A"/>
                </a:solidFill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1150">
                    <a:solidFill>
                      <a:srgbClr val="A8533A"/>
                    </a:solidFill>
                    <a:latin xmlns:p="http://schemas.openxmlformats.org/presentationml/2006/main" typeface="Noto Serif SC"/>
                    <a:ea xmlns:p="http://schemas.openxmlformats.org/presentationml/2006/main" typeface="Noto Serif S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56.8</c:v>
                </c:pt>
                <c:pt idx="1">
                  <c:v>64.0</c:v>
                </c:pt>
                <c:pt idx="2">
                  <c:v>74.6</c:v>
                </c:pt>
                <c:pt idx="3">
                  <c:v>79.1</c:v>
                </c:pt>
                <c:pt idx="4">
                  <c:v>82.0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ProtoNet</c:v>
                </c:pt>
              </c:strCache>
            </c:strRef>
          </c:tx>
          <c:spPr>
            <a:ln w="22225">
              <a:solidFill>
                <a:srgbClr val="4F6D8C"/>
              </a:solidFill>
            </a:ln>
          </c:spPr>
          <c:marker>
            <c:symbol val="circle"/>
            <c:size val="7"/>
            <c:spPr>
              <a:solidFill>
                <a:srgbClr val="FBF8F1"/>
              </a:solidFill>
              <a:ln w="15875">
                <a:solidFill>
                  <a:srgbClr val="4F6D8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49.4</c:v>
                </c:pt>
                <c:pt idx="1">
                  <c:v>57.1</c:v>
                </c:pt>
                <c:pt idx="2">
                  <c:v>68.2</c:v>
                </c:pt>
                <c:pt idx="3">
                  <c:v>74.3</c:v>
                </c:pt>
                <c:pt idx="4">
                  <c:v>78.0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MAML</c:v>
                </c:pt>
              </c:strCache>
            </c:strRef>
          </c:tx>
          <c:spPr>
            <a:ln w="22225">
              <a:solidFill>
                <a:srgbClr val="6E8A5F"/>
              </a:solidFill>
              <a:prstDash val="dash"/>
            </a:ln>
          </c:spPr>
          <c:marker>
            <c:symbol val="circle"/>
            <c:size val="7"/>
            <c:spPr>
              <a:solidFill>
                <a:srgbClr val="FBF8F1"/>
              </a:solidFill>
              <a:ln w="15875">
                <a:solidFill>
                  <a:srgbClr val="6E8A5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48.7</c:v>
                </c:pt>
                <c:pt idx="1">
                  <c:v>55.0</c:v>
                </c:pt>
                <c:pt idx="2">
                  <c:v>63.1</c:v>
                </c:pt>
                <c:pt idx="3">
                  <c:v>70.9</c:v>
                </c:pt>
                <c:pt idx="4">
                  <c:v>74.2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50" b="0">
                    <a:solidFill>
                      <a:srgbClr val="766C5F"/>
                    </a:solidFill>
                    <a:latin xmlns:p="http://schemas.openxmlformats.org/presentationml/2006/main" typeface="Noto Serif SC"/>
                    <a:ea xmlns:p="http://schemas.openxmlformats.org/presentationml/2006/main" typeface="Noto Serif SC"/>
                  </a:rPr>
                  <a:t>每类样本数 K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 w="9525">
            <a:solidFill>
              <a:srgbClr val="A3998A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0.0"/>
          <c:min val="40.0"/>
        </c:scaling>
        <c:delete val="0"/>
        <c:axPos val="l"/>
        <c:majorGridlines>
          <c:spPr>
            <a:ln w="7620">
              <a:solidFill>
                <a:srgbClr val="D3C7B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50" b="0">
                    <a:solidFill>
                      <a:srgbClr val="766C5F"/>
                    </a:solidFill>
                    <a:latin xmlns:p="http://schemas.openxmlformats.org/presentationml/2006/main" typeface="Noto Serif SC"/>
                    <a:ea xmlns:p="http://schemas.openxmlformats.org/presentationml/2006/main" typeface="Noto Serif SC"/>
                  </a:rPr>
                  <a:t>准确率（%）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majorUnit val="10.0"/>
      </c:valAx>
      <c:spPr xmlns:p="http://schemas.openxmlformats.org/presentationml/2006/main">
        <a:noFill/>
        <a:ln>
          <a:noFill/>
        </a:ln>
      </c:spPr>
    </c:plotArea>
    <c:legend>
      <c:legendPos val="t"/>
      <c:layout/>
      <c:overlay val="0"/>
    </c:legend>
    <c:plotVisOnly val="1"/>
    <c:dispBlanksAs val="gap"/>
    <c:showDLblsOverMax val="0"/>
  </c:chart>
  <c:spPr xmlns:p="http://schemas.openxmlformats.org/presentationml/2006/main">
    <a:noFill/>
    <a:ln>
      <a:noFill/>
    </a:ln>
  </c:spPr>
  <c:txPr>
    <a:bodyPr/>
    <a:lstStyle/>
    <a:p>
      <a:pPr>
        <a:defRPr sz="1200">
          <a:solidFill>
            <a:srgbClr val="766C5F"/>
          </a:solidFill>
          <a:latin xmlns:p="http://schemas.openxmlformats.org/presentationml/2006/main" typeface="Noto Serif SC"/>
          <a:ea xmlns:p="http://schemas.openxmlformats.org/presentationml/2006/main" typeface="Noto Serif SC"/>
        </a:defRPr>
      </a:pPr>
      <a:endParaRPr lang="en-US"/>
    </a:p>
  </c:txPr>
  <c:externalData r:id="rId1">
    <c:autoUpdate val="0"/>
  </c:externalData>
</c:chartSpace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art1.svg"/><Relationship Id="rId4" Type="http://schemas.openxmlformats.org/officeDocument/2006/relationships/image" Target="../media/image3.png"/><Relationship Id="rId5" Type="http://schemas.openxmlformats.org/officeDocument/2006/relationships/image" Target="../media/art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art1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art1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art1.svg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装饰 · 边框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装饰 · 校徽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7255" y="457200"/>
            <a:ext cx="457200" cy="457200"/>
          </a:xfrm>
          <a:prstGeom prst="rect">
            <a:avLst/>
          </a:prstGeom>
        </p:spPr>
      </p:pic>
      <p:sp>
        <p:nvSpPr>
          <p:cNvPr id="4" name="页码"/>
          <p:cNvSpPr txBox="1"/>
          <p:nvPr/>
        </p:nvSpPr>
        <p:spPr>
          <a:xfrm>
            <a:off x="10317175" y="625449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fld id="{5C0F3E84-4E8B-4E57-9D42-3A4C2E1B7A00}" type="slidenum">
              <a:rPr lang="zh-CN" altLang="en-US" sz="1200" b="0" i="0" dirty="0">
                <a:solidFill>
                  <a:srgbClr val="766C5F"/>
                </a:solidFill>
                <a:latin typeface="Goudy Old Style"/>
                <a:ea typeface="Noto Serif SC"/>
                <a:cs typeface="Goudy Old Style"/>
              </a:rPr>
              <a:t>#</a:t>
            </a:fld>
            <a:endParaRPr lang="zh-CN" altLang="en-US" sz="1200" b="0" i="0" dirty="0">
              <a:solidFill>
                <a:srgbClr val="766C5F"/>
              </a:solidFill>
              <a:latin typeface="Goudy Old Style"/>
              <a:ea typeface="Noto Serif SC"/>
              <a:cs typeface="Goudy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装饰 · 边框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装饰 · 边框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装饰 · 边框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g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  <p:sldLayoutId id="2147483656" r:id="rId4"/>
    <p:sldLayoutId id="2147483657" r:id="rId5"/>
    <p:sldLayoutId id="2147483658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art3.svg"/><Relationship Id="rId4" Type="http://schemas.openxmlformats.org/officeDocument/2006/relationships/image" Target="../media/image5.png"/><Relationship Id="rId5" Type="http://schemas.openxmlformats.org/officeDocument/2006/relationships/image" Target="../media/art4.svg"/><Relationship Id="rId6" Type="http://schemas.openxmlformats.org/officeDocument/2006/relationships/image" Target="../media/image6.png"/><Relationship Id="rId7" Type="http://schemas.openxmlformats.org/officeDocument/2006/relationships/image" Target="../media/art5.svg"/><Relationship Id="rId8" Type="http://schemas.openxmlformats.org/officeDocument/2006/relationships/image" Target="../media/image7.png"/><Relationship Id="rId9" Type="http://schemas.openxmlformats.org/officeDocument/2006/relationships/image" Target="../media/art6.svg"/><Relationship Id="rId10" Type="http://schemas.openxmlformats.org/officeDocument/2006/relationships/image" Target="../media/image8.png"/><Relationship Id="rId11" Type="http://schemas.openxmlformats.org/officeDocument/2006/relationships/image" Target="../media/art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art8.svg"/><Relationship Id="rId4" Type="http://schemas.openxmlformats.org/officeDocument/2006/relationships/image" Target="../media/image10.png"/><Relationship Id="rId5" Type="http://schemas.openxmlformats.org/officeDocument/2006/relationships/image" Target="../media/art7.svg"/><Relationship Id="rId6" Type="http://schemas.openxmlformats.org/officeDocument/2006/relationships/image" Target="../media/image11.png"/><Relationship Id="rId7" Type="http://schemas.openxmlformats.org/officeDocument/2006/relationships/image" Target="../media/art9.svg"/><Relationship Id="rId8" Type="http://schemas.openxmlformats.org/officeDocument/2006/relationships/image" Target="../media/image12.png"/><Relationship Id="rId9" Type="http://schemas.openxmlformats.org/officeDocument/2006/relationships/image" Target="../media/art10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art11.svg"/><Relationship Id="rId4" Type="http://schemas.openxmlformats.org/officeDocument/2006/relationships/image" Target="../media/image14.png"/><Relationship Id="rId5" Type="http://schemas.openxmlformats.org/officeDocument/2006/relationships/image" Target="../media/art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art12.svg"/><Relationship Id="rId4" Type="http://schemas.openxmlformats.org/officeDocument/2006/relationships/image" Target="../media/image16.png"/><Relationship Id="rId5" Type="http://schemas.openxmlformats.org/officeDocument/2006/relationships/image" Target="../media/art9.svg"/><Relationship Id="rId6" Type="http://schemas.openxmlformats.org/officeDocument/2006/relationships/image" Target="../media/image17.png"/><Relationship Id="rId7" Type="http://schemas.openxmlformats.org/officeDocument/2006/relationships/image" Target="../media/art13.svg"/><Relationship Id="rId8" Type="http://schemas.openxmlformats.org/officeDocument/2006/relationships/image" Target="../media/image18.png"/><Relationship Id="rId9" Type="http://schemas.openxmlformats.org/officeDocument/2006/relationships/image" Target="../media/art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art1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art15.svg"/><Relationship Id="rId4" Type="http://schemas.openxmlformats.org/officeDocument/2006/relationships/image" Target="../media/image21.png"/><Relationship Id="rId5" Type="http://schemas.openxmlformats.org/officeDocument/2006/relationships/image" Target="../media/art16.svg"/><Relationship Id="rId6" Type="http://schemas.openxmlformats.org/officeDocument/2006/relationships/image" Target="../media/image22.png"/><Relationship Id="rId7" Type="http://schemas.openxmlformats.org/officeDocument/2006/relationships/image" Target="../media/art17.svg"/><Relationship Id="rId8" Type="http://schemas.openxmlformats.org/officeDocument/2006/relationships/image" Target="../media/image23.png"/><Relationship Id="rId9" Type="http://schemas.openxmlformats.org/officeDocument/2006/relationships/image" Target="../media/art18.svg"/><Relationship Id="rId10" Type="http://schemas.openxmlformats.org/officeDocument/2006/relationships/image" Target="../media/image24.png"/><Relationship Id="rId11" Type="http://schemas.openxmlformats.org/officeDocument/2006/relationships/image" Target="../media/art1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art20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art10.svg"/><Relationship Id="rId4" Type="http://schemas.openxmlformats.org/officeDocument/2006/relationships/image" Target="../media/image31.png"/><Relationship Id="rId5" Type="http://schemas.openxmlformats.org/officeDocument/2006/relationships/image" Target="../media/art21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art2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校徽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112" y="731520"/>
            <a:ext cx="566928" cy="566928"/>
          </a:xfrm>
          <a:prstGeom prst="rect">
            <a:avLst/>
          </a:prstGeom>
        </p:spPr>
      </p:pic>
      <p:pic>
        <p:nvPicPr>
          <p:cNvPr id="3" name="校名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9344" y="877824"/>
            <a:ext cx="2116183" cy="274320"/>
          </a:xfrm>
          <a:prstGeom prst="rect">
            <a:avLst/>
          </a:prstGeom>
        </p:spPr>
      </p:pic>
      <p:cxnSp>
        <p:nvCxnSpPr>
          <p:cNvPr id="4" name="分隔线"/>
          <p:cNvCxnSpPr/>
          <p:nvPr/>
        </p:nvCxnSpPr>
        <p:spPr>
          <a:xfrm>
            <a:off x="3959352" y="768096"/>
            <a:ext cx="0" cy="493776"/>
          </a:xfrm>
          <a:prstGeom prst="line">
            <a:avLst/>
          </a:prstGeom>
          <a:ln w="9525" cap="rnd">
            <a:solidFill>
              <a:srgbClr val="B39363"/>
            </a:solidFill>
            <a:round/>
          </a:ln>
        </p:spPr>
      </p:cxnSp>
      <p:pic>
        <p:nvPicPr>
          <p:cNvPr id="5" name="实验室标识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06240" y="832104"/>
            <a:ext cx="2846474" cy="365760"/>
          </a:xfrm>
          <a:prstGeom prst="rect">
            <a:avLst/>
          </a:prstGeom>
        </p:spPr>
      </p:pic>
      <p:sp>
        <p:nvSpPr>
          <p:cNvPr id="6" name="眉题"/>
          <p:cNvSpPr txBox="1"/>
          <p:nvPr/>
        </p:nvSpPr>
        <p:spPr>
          <a:xfrm>
            <a:off x="886968" y="2084832"/>
            <a:ext cx="6675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 spc="4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组会报告</a:t>
            </a:r>
            <a:endParaRPr lang="zh-CN" altLang="en-US" sz="1300" b="0" i="0" dirty="0" spc="4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7" name="主标题"/>
          <p:cNvSpPr txBox="1"/>
          <p:nvPr/>
        </p:nvSpPr>
        <p:spPr>
          <a:xfrm>
            <a:off x="886968" y="2432304"/>
            <a:ext cx="6675120" cy="15784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2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面向小样本场景的</a:t>
            </a:r>
            <a:endParaRPr lang="zh-CN" altLang="en-US" sz="42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  <a:p>
            <a:pPr algn="l" eaLnBrk="1" latinLnBrk="0" hangingPunct="1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2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多模态认知模型</a:t>
            </a:r>
            <a:endParaRPr lang="zh-CN" altLang="en-US" sz="42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8" name="英文标题"/>
          <p:cNvSpPr txBox="1"/>
          <p:nvPr/>
        </p:nvSpPr>
        <p:spPr>
          <a:xfrm>
            <a:off x="886968" y="4065610"/>
            <a:ext cx="6675120" cy="4107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dirty="0">
                <a:solidFill>
                  <a:srgbClr val="766C5F"/>
                </a:solidFill>
                <a:latin typeface="Goudy Old Style"/>
                <a:ea typeface="Noto Serif SC"/>
                <a:cs typeface="Goudy Old Style"/>
              </a:rPr>
              <a:t>A Multimodal Cognitive Model for Few-Shot Scenarios</a:t>
            </a:r>
            <a:endParaRPr lang="zh-CN" altLang="en-US" sz="2000" b="0" i="0" dirty="0">
              <a:solidFill>
                <a:srgbClr val="766C5F"/>
              </a:solidFill>
              <a:latin typeface="Goudy Old Style"/>
              <a:ea typeface="Noto Serif SC"/>
              <a:cs typeface="Goudy Old Style"/>
            </a:endParaRPr>
          </a:p>
        </p:txBody>
      </p:sp>
      <p:pic>
        <p:nvPicPr>
          <p:cNvPr id="9" name="装饰 · 分隔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6968" y="4759792"/>
            <a:ext cx="2286000" cy="121920"/>
          </a:xfrm>
          <a:prstGeom prst="rect">
            <a:avLst/>
          </a:prstGeom>
        </p:spPr>
      </p:pic>
      <p:sp>
        <p:nvSpPr>
          <p:cNvPr id="10" name="单位与汇报人"/>
          <p:cNvSpPr txBox="1"/>
          <p:nvPr/>
        </p:nvSpPr>
        <p:spPr>
          <a:xfrm>
            <a:off x="886968" y="5088976"/>
            <a:ext cx="6675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中国科学技术大学</a:t>
            </a:r>
            <a:r>
              <a:rPr lang="zh-CN" altLang="en-US" sz="15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　李毅</a:t>
            </a:r>
            <a:endParaRPr lang="zh-CN" altLang="en-US" sz="15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1" name="日期与指导老师"/>
          <p:cNvSpPr txBox="1"/>
          <p:nvPr/>
        </p:nvSpPr>
        <p:spPr>
          <a:xfrm>
            <a:off x="886968" y="5509600"/>
            <a:ext cx="6675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2026 年 10 月 28 日　·　指导老师　张老师</a:t>
            </a:r>
            <a:endParaRPr lang="zh-CN" altLang="en-US" sz="130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12" name="插画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35061" y="914400"/>
            <a:ext cx="404065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目录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cxnSp>
        <p:nvCxnSpPr>
          <p:cNvPr id="3" name="章节连线"/>
          <p:cNvCxnSpPr/>
          <p:nvPr/>
        </p:nvCxnSpPr>
        <p:spPr>
          <a:xfrm>
            <a:off x="2106892" y="2148840"/>
            <a:ext cx="7977911" cy="0"/>
          </a:xfrm>
          <a:prstGeom prst="line">
            <a:avLst/>
          </a:prstGeom>
          <a:ln w="12700" cap="rnd">
            <a:solidFill>
              <a:srgbClr val="B39363"/>
            </a:solidFill>
            <a:round/>
          </a:ln>
        </p:spPr>
      </p:cxnSp>
      <p:sp>
        <p:nvSpPr>
          <p:cNvPr id="4" name="序号圈"/>
          <p:cNvSpPr/>
          <p:nvPr/>
        </p:nvSpPr>
        <p:spPr>
          <a:xfrm>
            <a:off x="1832572" y="1874520"/>
            <a:ext cx="548640" cy="548640"/>
          </a:xfrm>
          <a:prstGeom prst="ellipse">
            <a:avLst/>
          </a:prstGeom>
          <a:solidFill>
            <a:srgbClr val="F7F3EA"/>
          </a:solidFill>
          <a:ln w="9525" cap="rnd">
            <a:solidFill>
              <a:srgbClr val="3E3830"/>
            </a:solidFill>
            <a:round/>
          </a:ln>
        </p:spPr>
      </p:sp>
      <p:sp>
        <p:nvSpPr>
          <p:cNvPr id="5" name="序号"/>
          <p:cNvSpPr txBox="1"/>
          <p:nvPr/>
        </p:nvSpPr>
        <p:spPr>
          <a:xfrm>
            <a:off x="1832572" y="1874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0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I</a:t>
            </a:r>
            <a:endParaRPr lang="zh-CN" altLang="en-US" sz="1900" b="0" i="0" dirty="0">
              <a:solidFill>
                <a:srgbClr val="A8533A"/>
              </a:solidFill>
              <a:latin typeface="Goudy Old Style"/>
              <a:ea typeface="Noto Serif SC"/>
              <a:cs typeface="Goudy Old Style"/>
            </a:endParaRPr>
          </a:p>
        </p:txBody>
      </p:sp>
      <p:pic>
        <p:nvPicPr>
          <p:cNvPr id="6" name="插画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932" y="2679192"/>
            <a:ext cx="1645920" cy="1645920"/>
          </a:xfrm>
          <a:prstGeom prst="rect">
            <a:avLst/>
          </a:prstGeom>
        </p:spPr>
      </p:pic>
      <p:cxnSp>
        <p:nvCxnSpPr>
          <p:cNvPr id="7" name="分隔线"/>
          <p:cNvCxnSpPr/>
          <p:nvPr/>
        </p:nvCxnSpPr>
        <p:spPr>
          <a:xfrm>
            <a:off x="1603972" y="4526280"/>
            <a:ext cx="1005840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8" name="章节名"/>
          <p:cNvSpPr txBox="1"/>
          <p:nvPr/>
        </p:nvSpPr>
        <p:spPr>
          <a:xfrm>
            <a:off x="777240" y="4636008"/>
            <a:ext cx="265930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研究背景</a:t>
            </a:r>
            <a:endParaRPr lang="zh-CN" altLang="en-US" sz="22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9" name="页数标记"/>
          <p:cNvSpPr/>
          <p:nvPr/>
        </p:nvSpPr>
        <p:spPr>
          <a:xfrm>
            <a:off x="1690840" y="5285232"/>
            <a:ext cx="100584" cy="100584"/>
          </a:xfrm>
          <a:prstGeom prst="diamond">
            <a:avLst/>
          </a:prstGeom>
          <a:solidFill>
            <a:srgbClr val="B39363"/>
          </a:solidFill>
          <a:ln>
            <a:noFill/>
          </a:ln>
        </p:spPr>
      </p:sp>
      <p:sp>
        <p:nvSpPr>
          <p:cNvPr id="10" name="页数标记"/>
          <p:cNvSpPr/>
          <p:nvPr/>
        </p:nvSpPr>
        <p:spPr>
          <a:xfrm>
            <a:off x="1873720" y="5285232"/>
            <a:ext cx="100584" cy="100584"/>
          </a:xfrm>
          <a:prstGeom prst="diamond">
            <a:avLst/>
          </a:prstGeom>
          <a:solidFill>
            <a:srgbClr val="B39363"/>
          </a:solidFill>
          <a:ln>
            <a:noFill/>
          </a:ln>
        </p:spPr>
      </p:sp>
      <p:sp>
        <p:nvSpPr>
          <p:cNvPr id="11" name="页数标记"/>
          <p:cNvSpPr/>
          <p:nvPr/>
        </p:nvSpPr>
        <p:spPr>
          <a:xfrm>
            <a:off x="2056600" y="5285232"/>
            <a:ext cx="100584" cy="100584"/>
          </a:xfrm>
          <a:prstGeom prst="diamond">
            <a:avLst/>
          </a:prstGeom>
          <a:solidFill>
            <a:srgbClr val="B39363"/>
          </a:solidFill>
          <a:ln>
            <a:noFill/>
          </a:ln>
        </p:spPr>
      </p:sp>
      <p:sp>
        <p:nvSpPr>
          <p:cNvPr id="12" name="页数标记"/>
          <p:cNvSpPr/>
          <p:nvPr/>
        </p:nvSpPr>
        <p:spPr>
          <a:xfrm>
            <a:off x="2239480" y="5285232"/>
            <a:ext cx="100584" cy="100584"/>
          </a:xfrm>
          <a:prstGeom prst="diamond">
            <a:avLst/>
          </a:prstGeom>
          <a:solidFill>
            <a:srgbClr val="B39363"/>
          </a:solidFill>
          <a:ln>
            <a:noFill/>
          </a:ln>
        </p:spPr>
      </p:sp>
      <p:sp>
        <p:nvSpPr>
          <p:cNvPr id="13" name="页数标记"/>
          <p:cNvSpPr/>
          <p:nvPr/>
        </p:nvSpPr>
        <p:spPr>
          <a:xfrm>
            <a:off x="2422360" y="5285232"/>
            <a:ext cx="100584" cy="100584"/>
          </a:xfrm>
          <a:prstGeom prst="diamond">
            <a:avLst/>
          </a:prstGeom>
          <a:solidFill>
            <a:srgbClr val="B39363"/>
          </a:solidFill>
          <a:ln>
            <a:noFill/>
          </a:ln>
        </p:spPr>
      </p:sp>
      <p:sp>
        <p:nvSpPr>
          <p:cNvPr id="14" name="页码"/>
          <p:cNvSpPr txBox="1"/>
          <p:nvPr/>
        </p:nvSpPr>
        <p:spPr>
          <a:xfrm>
            <a:off x="777240" y="5495544"/>
            <a:ext cx="26593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3 – 7</a:t>
            </a:r>
            <a:endParaRPr lang="zh-CN" altLang="en-US" sz="13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15" name="序号圈"/>
          <p:cNvSpPr/>
          <p:nvPr/>
        </p:nvSpPr>
        <p:spPr>
          <a:xfrm>
            <a:off x="4491876" y="1874520"/>
            <a:ext cx="548640" cy="548640"/>
          </a:xfrm>
          <a:prstGeom prst="ellipse">
            <a:avLst/>
          </a:prstGeom>
          <a:solidFill>
            <a:srgbClr val="F7F3EA"/>
          </a:solidFill>
          <a:ln w="9525" cap="rnd">
            <a:solidFill>
              <a:srgbClr val="3E3830"/>
            </a:solidFill>
            <a:round/>
          </a:ln>
        </p:spPr>
      </p:sp>
      <p:sp>
        <p:nvSpPr>
          <p:cNvPr id="16" name="序号"/>
          <p:cNvSpPr txBox="1"/>
          <p:nvPr/>
        </p:nvSpPr>
        <p:spPr>
          <a:xfrm>
            <a:off x="4491876" y="1874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0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II</a:t>
            </a:r>
            <a:endParaRPr lang="zh-CN" altLang="en-US" sz="1900" b="0" i="0" dirty="0">
              <a:solidFill>
                <a:srgbClr val="A8533A"/>
              </a:solidFill>
              <a:latin typeface="Goudy Old Style"/>
              <a:ea typeface="Noto Serif SC"/>
              <a:cs typeface="Goudy Old Style"/>
            </a:endParaRPr>
          </a:p>
        </p:txBody>
      </p:sp>
      <p:pic>
        <p:nvPicPr>
          <p:cNvPr id="17" name="插画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8931" y="2679192"/>
            <a:ext cx="1334530" cy="1645920"/>
          </a:xfrm>
          <a:prstGeom prst="rect">
            <a:avLst/>
          </a:prstGeom>
        </p:spPr>
      </p:pic>
      <p:cxnSp>
        <p:nvCxnSpPr>
          <p:cNvPr id="18" name="分隔线"/>
          <p:cNvCxnSpPr/>
          <p:nvPr/>
        </p:nvCxnSpPr>
        <p:spPr>
          <a:xfrm>
            <a:off x="4263276" y="4526280"/>
            <a:ext cx="1005840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19" name="章节名"/>
          <p:cNvSpPr txBox="1"/>
          <p:nvPr/>
        </p:nvSpPr>
        <p:spPr>
          <a:xfrm>
            <a:off x="3436544" y="4636008"/>
            <a:ext cx="265930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方法</a:t>
            </a:r>
            <a:endParaRPr lang="zh-CN" altLang="en-US" sz="22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20" name="页数标记"/>
          <p:cNvSpPr/>
          <p:nvPr/>
        </p:nvSpPr>
        <p:spPr>
          <a:xfrm>
            <a:off x="4533024" y="5285232"/>
            <a:ext cx="100584" cy="100584"/>
          </a:xfrm>
          <a:prstGeom prst="diamond">
            <a:avLst/>
          </a:prstGeom>
          <a:solidFill>
            <a:srgbClr val="B39363"/>
          </a:solidFill>
          <a:ln>
            <a:noFill/>
          </a:ln>
        </p:spPr>
      </p:sp>
      <p:sp>
        <p:nvSpPr>
          <p:cNvPr id="21" name="页数标记"/>
          <p:cNvSpPr/>
          <p:nvPr/>
        </p:nvSpPr>
        <p:spPr>
          <a:xfrm>
            <a:off x="4715904" y="5285232"/>
            <a:ext cx="100584" cy="100584"/>
          </a:xfrm>
          <a:prstGeom prst="diamond">
            <a:avLst/>
          </a:prstGeom>
          <a:solidFill>
            <a:srgbClr val="B39363"/>
          </a:solidFill>
          <a:ln>
            <a:noFill/>
          </a:ln>
        </p:spPr>
      </p:sp>
      <p:sp>
        <p:nvSpPr>
          <p:cNvPr id="22" name="页数标记"/>
          <p:cNvSpPr/>
          <p:nvPr/>
        </p:nvSpPr>
        <p:spPr>
          <a:xfrm>
            <a:off x="4898784" y="5285232"/>
            <a:ext cx="100584" cy="100584"/>
          </a:xfrm>
          <a:prstGeom prst="diamond">
            <a:avLst/>
          </a:prstGeom>
          <a:solidFill>
            <a:srgbClr val="B39363"/>
          </a:solidFill>
          <a:ln>
            <a:noFill/>
          </a:ln>
        </p:spPr>
      </p:sp>
      <p:sp>
        <p:nvSpPr>
          <p:cNvPr id="23" name="页码"/>
          <p:cNvSpPr txBox="1"/>
          <p:nvPr/>
        </p:nvSpPr>
        <p:spPr>
          <a:xfrm>
            <a:off x="3436544" y="5495544"/>
            <a:ext cx="26593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8 – 10</a:t>
            </a:r>
            <a:endParaRPr lang="zh-CN" altLang="en-US" sz="13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24" name="序号圈"/>
          <p:cNvSpPr/>
          <p:nvPr/>
        </p:nvSpPr>
        <p:spPr>
          <a:xfrm>
            <a:off x="7151180" y="1874520"/>
            <a:ext cx="548640" cy="548640"/>
          </a:xfrm>
          <a:prstGeom prst="ellipse">
            <a:avLst/>
          </a:prstGeom>
          <a:solidFill>
            <a:srgbClr val="F7F3EA"/>
          </a:solidFill>
          <a:ln w="9525" cap="rnd">
            <a:solidFill>
              <a:srgbClr val="3E3830"/>
            </a:solidFill>
            <a:round/>
          </a:ln>
        </p:spPr>
      </p:sp>
      <p:sp>
        <p:nvSpPr>
          <p:cNvPr id="25" name="序号"/>
          <p:cNvSpPr txBox="1"/>
          <p:nvPr/>
        </p:nvSpPr>
        <p:spPr>
          <a:xfrm>
            <a:off x="7151180" y="1874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0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III</a:t>
            </a:r>
            <a:endParaRPr lang="zh-CN" altLang="en-US" sz="1900" b="0" i="0" dirty="0">
              <a:solidFill>
                <a:srgbClr val="A8533A"/>
              </a:solidFill>
              <a:latin typeface="Goudy Old Style"/>
              <a:ea typeface="Noto Serif SC"/>
              <a:cs typeface="Goudy Old Style"/>
            </a:endParaRPr>
          </a:p>
        </p:txBody>
      </p:sp>
      <p:pic>
        <p:nvPicPr>
          <p:cNvPr id="26" name="插画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2540" y="2679192"/>
            <a:ext cx="1645920" cy="1645920"/>
          </a:xfrm>
          <a:prstGeom prst="rect">
            <a:avLst/>
          </a:prstGeom>
        </p:spPr>
      </p:pic>
      <p:cxnSp>
        <p:nvCxnSpPr>
          <p:cNvPr id="27" name="分隔线"/>
          <p:cNvCxnSpPr/>
          <p:nvPr/>
        </p:nvCxnSpPr>
        <p:spPr>
          <a:xfrm>
            <a:off x="6922580" y="4526280"/>
            <a:ext cx="1005840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28" name="章节名"/>
          <p:cNvSpPr txBox="1"/>
          <p:nvPr/>
        </p:nvSpPr>
        <p:spPr>
          <a:xfrm>
            <a:off x="6095848" y="4636008"/>
            <a:ext cx="265930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实验</a:t>
            </a:r>
            <a:endParaRPr lang="zh-CN" altLang="en-US" sz="22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29" name="页数标记"/>
          <p:cNvSpPr/>
          <p:nvPr/>
        </p:nvSpPr>
        <p:spPr>
          <a:xfrm>
            <a:off x="7100888" y="5285232"/>
            <a:ext cx="100584" cy="100584"/>
          </a:xfrm>
          <a:prstGeom prst="diamond">
            <a:avLst/>
          </a:prstGeom>
          <a:solidFill>
            <a:srgbClr val="B39363"/>
          </a:solidFill>
          <a:ln>
            <a:noFill/>
          </a:ln>
        </p:spPr>
      </p:sp>
      <p:sp>
        <p:nvSpPr>
          <p:cNvPr id="30" name="页数标记"/>
          <p:cNvSpPr/>
          <p:nvPr/>
        </p:nvSpPr>
        <p:spPr>
          <a:xfrm>
            <a:off x="7283768" y="5285232"/>
            <a:ext cx="100584" cy="100584"/>
          </a:xfrm>
          <a:prstGeom prst="diamond">
            <a:avLst/>
          </a:prstGeom>
          <a:solidFill>
            <a:srgbClr val="B39363"/>
          </a:solidFill>
          <a:ln>
            <a:noFill/>
          </a:ln>
        </p:spPr>
      </p:sp>
      <p:sp>
        <p:nvSpPr>
          <p:cNvPr id="31" name="页数标记"/>
          <p:cNvSpPr/>
          <p:nvPr/>
        </p:nvSpPr>
        <p:spPr>
          <a:xfrm>
            <a:off x="7466648" y="5285232"/>
            <a:ext cx="100584" cy="100584"/>
          </a:xfrm>
          <a:prstGeom prst="diamond">
            <a:avLst/>
          </a:prstGeom>
          <a:solidFill>
            <a:srgbClr val="B39363"/>
          </a:solidFill>
          <a:ln>
            <a:noFill/>
          </a:ln>
        </p:spPr>
      </p:sp>
      <p:sp>
        <p:nvSpPr>
          <p:cNvPr id="32" name="页数标记"/>
          <p:cNvSpPr/>
          <p:nvPr/>
        </p:nvSpPr>
        <p:spPr>
          <a:xfrm>
            <a:off x="7649528" y="5285232"/>
            <a:ext cx="100584" cy="100584"/>
          </a:xfrm>
          <a:prstGeom prst="diamond">
            <a:avLst/>
          </a:prstGeom>
          <a:solidFill>
            <a:srgbClr val="B39363"/>
          </a:solidFill>
          <a:ln>
            <a:noFill/>
          </a:ln>
        </p:spPr>
      </p:sp>
      <p:sp>
        <p:nvSpPr>
          <p:cNvPr id="33" name="页码"/>
          <p:cNvSpPr txBox="1"/>
          <p:nvPr/>
        </p:nvSpPr>
        <p:spPr>
          <a:xfrm>
            <a:off x="6095848" y="5495544"/>
            <a:ext cx="26593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11 – 14</a:t>
            </a:r>
            <a:endParaRPr lang="zh-CN" altLang="en-US" sz="13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34" name="序号圈"/>
          <p:cNvSpPr/>
          <p:nvPr/>
        </p:nvSpPr>
        <p:spPr>
          <a:xfrm>
            <a:off x="9810483" y="1874520"/>
            <a:ext cx="548640" cy="548640"/>
          </a:xfrm>
          <a:prstGeom prst="ellipse">
            <a:avLst/>
          </a:prstGeom>
          <a:solidFill>
            <a:srgbClr val="F7F3EA"/>
          </a:solidFill>
          <a:ln w="9525" cap="rnd">
            <a:solidFill>
              <a:srgbClr val="3E3830"/>
            </a:solidFill>
            <a:round/>
          </a:ln>
        </p:spPr>
      </p:sp>
      <p:sp>
        <p:nvSpPr>
          <p:cNvPr id="35" name="序号"/>
          <p:cNvSpPr txBox="1"/>
          <p:nvPr/>
        </p:nvSpPr>
        <p:spPr>
          <a:xfrm>
            <a:off x="9810483" y="1874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0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IV</a:t>
            </a:r>
            <a:endParaRPr lang="zh-CN" altLang="en-US" sz="1900" b="0" i="0" dirty="0">
              <a:solidFill>
                <a:srgbClr val="A8533A"/>
              </a:solidFill>
              <a:latin typeface="Goudy Old Style"/>
              <a:ea typeface="Noto Serif SC"/>
              <a:cs typeface="Goudy Old Style"/>
            </a:endParaRPr>
          </a:p>
        </p:txBody>
      </p:sp>
      <p:pic>
        <p:nvPicPr>
          <p:cNvPr id="36" name="插画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61843" y="2679192"/>
            <a:ext cx="1645920" cy="1645920"/>
          </a:xfrm>
          <a:prstGeom prst="rect">
            <a:avLst/>
          </a:prstGeom>
        </p:spPr>
      </p:pic>
      <p:cxnSp>
        <p:nvCxnSpPr>
          <p:cNvPr id="37" name="分隔线"/>
          <p:cNvCxnSpPr/>
          <p:nvPr/>
        </p:nvCxnSpPr>
        <p:spPr>
          <a:xfrm>
            <a:off x="9581883" y="4526280"/>
            <a:ext cx="1005840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38" name="章节名"/>
          <p:cNvSpPr txBox="1"/>
          <p:nvPr/>
        </p:nvSpPr>
        <p:spPr>
          <a:xfrm>
            <a:off x="8755151" y="4636008"/>
            <a:ext cx="265930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结论</a:t>
            </a:r>
            <a:endParaRPr lang="zh-CN" altLang="en-US" sz="22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39" name="页数标记"/>
          <p:cNvSpPr/>
          <p:nvPr/>
        </p:nvSpPr>
        <p:spPr>
          <a:xfrm>
            <a:off x="10034511" y="5285232"/>
            <a:ext cx="100584" cy="100584"/>
          </a:xfrm>
          <a:prstGeom prst="diamond">
            <a:avLst/>
          </a:prstGeom>
          <a:solidFill>
            <a:srgbClr val="B39363"/>
          </a:solidFill>
          <a:ln>
            <a:noFill/>
          </a:ln>
        </p:spPr>
      </p:sp>
      <p:sp>
        <p:nvSpPr>
          <p:cNvPr id="40" name="页码"/>
          <p:cNvSpPr txBox="1"/>
          <p:nvPr/>
        </p:nvSpPr>
        <p:spPr>
          <a:xfrm>
            <a:off x="8755151" y="5495544"/>
            <a:ext cx="26593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15</a:t>
            </a:r>
            <a:endParaRPr lang="zh-CN" altLang="en-US" sz="13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装饰 · 章节徽章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8548" y="658368"/>
            <a:ext cx="2514600" cy="2514600"/>
          </a:xfrm>
          <a:prstGeom prst="rect">
            <a:avLst/>
          </a:prstGeom>
        </p:spPr>
      </p:pic>
      <p:pic>
        <p:nvPicPr>
          <p:cNvPr id="3" name="插画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2344" y="1228344"/>
            <a:ext cx="1207008" cy="1207008"/>
          </a:xfrm>
          <a:prstGeom prst="rect">
            <a:avLst/>
          </a:prstGeom>
        </p:spPr>
      </p:pic>
      <p:sp>
        <p:nvSpPr>
          <p:cNvPr id="4" name="眉题"/>
          <p:cNvSpPr txBox="1"/>
          <p:nvPr/>
        </p:nvSpPr>
        <p:spPr>
          <a:xfrm>
            <a:off x="1371600" y="3310128"/>
            <a:ext cx="944849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 spc="4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Part I</a:t>
            </a:r>
            <a:endParaRPr lang="zh-CN" altLang="en-US" sz="1400" b="0" i="0" dirty="0" spc="4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5" name="章节标题"/>
          <p:cNvSpPr txBox="1"/>
          <p:nvPr/>
        </p:nvSpPr>
        <p:spPr>
          <a:xfrm>
            <a:off x="1371600" y="3657600"/>
            <a:ext cx="944849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研究背景：为什么一个样本仍然不够</a:t>
            </a:r>
            <a:endParaRPr lang="zh-CN" altLang="en-US" sz="32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cxnSp>
        <p:nvCxnSpPr>
          <p:cNvPr id="6" name="进度连线"/>
          <p:cNvCxnSpPr/>
          <p:nvPr/>
        </p:nvCxnSpPr>
        <p:spPr>
          <a:xfrm>
            <a:off x="4724248" y="5074920"/>
            <a:ext cx="2743200" cy="0"/>
          </a:xfrm>
          <a:prstGeom prst="line">
            <a:avLst/>
          </a:prstGeom>
          <a:ln w="12700" cap="rnd">
            <a:solidFill>
              <a:srgbClr val="B39363"/>
            </a:solidFill>
            <a:round/>
          </a:ln>
        </p:spPr>
      </p:cxnSp>
      <p:sp>
        <p:nvSpPr>
          <p:cNvPr id="7" name="进度节点"/>
          <p:cNvSpPr/>
          <p:nvPr/>
        </p:nvSpPr>
        <p:spPr>
          <a:xfrm>
            <a:off x="4459072" y="4809744"/>
            <a:ext cx="530352" cy="530352"/>
          </a:xfrm>
          <a:prstGeom prst="ellipse">
            <a:avLst/>
          </a:prstGeom>
          <a:solidFill>
            <a:srgbClr val="A8533A"/>
          </a:solidFill>
          <a:ln w="9525" cap="rnd">
            <a:solidFill>
              <a:srgbClr val="A8533A"/>
            </a:solidFill>
            <a:round/>
          </a:ln>
        </p:spPr>
      </p:sp>
      <p:sp>
        <p:nvSpPr>
          <p:cNvPr id="8" name="进度序号"/>
          <p:cNvSpPr txBox="1"/>
          <p:nvPr/>
        </p:nvSpPr>
        <p:spPr>
          <a:xfrm>
            <a:off x="4459072" y="4809744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i="0" dirty="0">
                <a:solidFill>
                  <a:srgbClr val="FBF8F1"/>
                </a:solidFill>
                <a:latin typeface="Goudy Old Style"/>
                <a:ea typeface="Noto Serif SC"/>
                <a:cs typeface="Goudy Old Style"/>
              </a:rPr>
              <a:t>I</a:t>
            </a:r>
            <a:endParaRPr lang="zh-CN" altLang="en-US" sz="1500" b="0" i="0" dirty="0">
              <a:solidFill>
                <a:srgbClr val="FBF8F1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9" name="进度节点"/>
          <p:cNvSpPr/>
          <p:nvPr/>
        </p:nvSpPr>
        <p:spPr>
          <a:xfrm>
            <a:off x="5446624" y="4882896"/>
            <a:ext cx="384048" cy="384048"/>
          </a:xfrm>
          <a:prstGeom prst="ellipse">
            <a:avLst/>
          </a:prstGeom>
          <a:solidFill>
            <a:srgbClr val="F7F3EA"/>
          </a:solidFill>
          <a:ln w="9525" cap="rnd">
            <a:solidFill>
              <a:srgbClr val="A3998A"/>
            </a:solidFill>
            <a:round/>
          </a:ln>
        </p:spPr>
      </p:sp>
      <p:sp>
        <p:nvSpPr>
          <p:cNvPr id="10" name="进度序号"/>
          <p:cNvSpPr txBox="1"/>
          <p:nvPr/>
        </p:nvSpPr>
        <p:spPr>
          <a:xfrm>
            <a:off x="5446624" y="48828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II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11" name="进度节点"/>
          <p:cNvSpPr/>
          <p:nvPr/>
        </p:nvSpPr>
        <p:spPr>
          <a:xfrm>
            <a:off x="6361024" y="4882896"/>
            <a:ext cx="384048" cy="384048"/>
          </a:xfrm>
          <a:prstGeom prst="ellipse">
            <a:avLst/>
          </a:prstGeom>
          <a:solidFill>
            <a:srgbClr val="F7F3EA"/>
          </a:solidFill>
          <a:ln w="9525" cap="rnd">
            <a:solidFill>
              <a:srgbClr val="A3998A"/>
            </a:solidFill>
            <a:round/>
          </a:ln>
        </p:spPr>
      </p:sp>
      <p:sp>
        <p:nvSpPr>
          <p:cNvPr id="12" name="进度序号"/>
          <p:cNvSpPr txBox="1"/>
          <p:nvPr/>
        </p:nvSpPr>
        <p:spPr>
          <a:xfrm>
            <a:off x="6361024" y="48828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III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13" name="进度节点"/>
          <p:cNvSpPr/>
          <p:nvPr/>
        </p:nvSpPr>
        <p:spPr>
          <a:xfrm>
            <a:off x="7275424" y="4882896"/>
            <a:ext cx="384048" cy="384048"/>
          </a:xfrm>
          <a:prstGeom prst="ellipse">
            <a:avLst/>
          </a:prstGeom>
          <a:solidFill>
            <a:srgbClr val="F7F3EA"/>
          </a:solidFill>
          <a:ln w="9525" cap="rnd">
            <a:solidFill>
              <a:srgbClr val="A3998A"/>
            </a:solidFill>
            <a:round/>
          </a:ln>
        </p:spPr>
      </p:sp>
      <p:sp>
        <p:nvSpPr>
          <p:cNvPr id="14" name="进度序号"/>
          <p:cNvSpPr txBox="1"/>
          <p:nvPr/>
        </p:nvSpPr>
        <p:spPr>
          <a:xfrm>
            <a:off x="7275424" y="48828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IV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Part I：研究背景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标题"/>
          <p:cNvSpPr txBox="1"/>
          <p:nvPr/>
        </p:nvSpPr>
        <p:spPr>
          <a:xfrm>
            <a:off x="777240" y="804672"/>
            <a:ext cx="990569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小样本多模态推理面临的四个难题</a:t>
            </a:r>
            <a:endParaRPr lang="zh-CN" altLang="en-US" sz="28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4" name="卡片"/>
          <p:cNvSpPr/>
          <p:nvPr/>
        </p:nvSpPr>
        <p:spPr>
          <a:xfrm>
            <a:off x="777240" y="1737360"/>
            <a:ext cx="2467280" cy="3749040"/>
          </a:xfrm>
          <a:prstGeom prst="roundRect">
            <a:avLst>
              <a:gd name="adj" fmla="val 2000"/>
            </a:avLst>
          </a:prstGeom>
          <a:solidFill>
            <a:srgbClr val="EFE8DB"/>
          </a:solidFill>
          <a:ln w="9525" cap="rnd">
            <a:solidFill>
              <a:srgbClr val="D6CAB4"/>
            </a:solidFill>
            <a:round/>
          </a:ln>
        </p:spPr>
      </p:sp>
      <p:sp>
        <p:nvSpPr>
          <p:cNvPr id="5" name="序号圈"/>
          <p:cNvSpPr/>
          <p:nvPr/>
        </p:nvSpPr>
        <p:spPr>
          <a:xfrm>
            <a:off x="1782280" y="1984248"/>
            <a:ext cx="457200" cy="457200"/>
          </a:xfrm>
          <a:prstGeom prst="ellipse">
            <a:avLst/>
          </a:prstGeom>
          <a:noFill/>
          <a:ln w="9525" cap="rnd">
            <a:solidFill>
              <a:srgbClr val="3E3830"/>
            </a:solidFill>
            <a:round/>
          </a:ln>
        </p:spPr>
      </p:sp>
      <p:sp>
        <p:nvSpPr>
          <p:cNvPr id="6" name="序号"/>
          <p:cNvSpPr txBox="1"/>
          <p:nvPr/>
        </p:nvSpPr>
        <p:spPr>
          <a:xfrm>
            <a:off x="1782280" y="1984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i="0" dirty="0">
                <a:solidFill>
                  <a:srgbClr val="2B2620"/>
                </a:solidFill>
                <a:latin typeface="Goudy Old Style"/>
                <a:ea typeface="Noto Serif SC"/>
                <a:cs typeface="Goudy Old Style"/>
              </a:rPr>
              <a:t>I</a:t>
            </a:r>
            <a:endParaRPr lang="zh-CN" altLang="en-US" sz="1500" b="0" i="0" dirty="0">
              <a:solidFill>
                <a:srgbClr val="2B2620"/>
              </a:solidFill>
              <a:latin typeface="Goudy Old Style"/>
              <a:ea typeface="Noto Serif SC"/>
              <a:cs typeface="Goudy Old Style"/>
            </a:endParaRPr>
          </a:p>
        </p:txBody>
      </p:sp>
      <p:pic>
        <p:nvPicPr>
          <p:cNvPr id="7" name="插画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936" y="2560320"/>
            <a:ext cx="1389888" cy="1389888"/>
          </a:xfrm>
          <a:prstGeom prst="rect">
            <a:avLst/>
          </a:prstGeom>
        </p:spPr>
      </p:pic>
      <p:cxnSp>
        <p:nvCxnSpPr>
          <p:cNvPr id="8" name="分隔线"/>
          <p:cNvCxnSpPr/>
          <p:nvPr/>
        </p:nvCxnSpPr>
        <p:spPr>
          <a:xfrm>
            <a:off x="1270696" y="4096512"/>
            <a:ext cx="1480368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9" name="卡片标题"/>
          <p:cNvSpPr txBox="1"/>
          <p:nvPr/>
        </p:nvSpPr>
        <p:spPr>
          <a:xfrm>
            <a:off x="914400" y="4206240"/>
            <a:ext cx="219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样本稀缺</a:t>
            </a:r>
            <a:endParaRPr lang="zh-CN" altLang="en-US" sz="17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0" name="卡片说明"/>
          <p:cNvSpPr txBox="1"/>
          <p:nvPr/>
        </p:nvSpPr>
        <p:spPr>
          <a:xfrm>
            <a:off x="886968" y="4626864"/>
            <a:ext cx="224782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 spc="-54">
                <a:solidFill>
                  <a:srgbClr val="3E3830"/>
                </a:solidFill>
                <a:latin typeface="Garamond"/>
                <a:ea typeface="华文楷体"/>
                <a:cs typeface="Garamond"/>
              </a:rPr>
              <a:t>每类仅 1–5 个标注样本，</a:t>
            </a:r>
            <a:br>
              <a:rPr lang="zh-CN" altLang="en-US" sz="1350" b="0" i="0" dirty="0" spc="-54">
                <a:solidFill>
                  <a:srgbClr val="3E3830"/>
                </a:solidFill>
                <a:latin typeface="Garamond"/>
                <a:ea typeface="华文楷体"/>
                <a:cs typeface="Garamond"/>
              </a:rPr>
            </a:br>
            <a:r>
              <a:rPr lang="zh-CN" altLang="en-US" sz="1350" b="0" i="0" dirty="0" spc="-54">
                <a:solidFill>
                  <a:srgbClr val="3E3830"/>
                </a:solidFill>
                <a:latin typeface="Garamond"/>
                <a:ea typeface="华文楷体"/>
                <a:cs typeface="Garamond"/>
              </a:rPr>
              <a:t>难以估计类内变化。</a:t>
            </a:r>
            <a:endParaRPr lang="zh-CN" altLang="en-US" sz="1350" b="0" i="0" dirty="0" spc="-54">
              <a:solidFill>
                <a:srgbClr val="3E3830"/>
              </a:solidFill>
              <a:latin typeface="Garamond"/>
              <a:ea typeface="华文楷体"/>
              <a:cs typeface="Garamond"/>
            </a:endParaRPr>
          </a:p>
        </p:txBody>
      </p:sp>
      <p:sp>
        <p:nvSpPr>
          <p:cNvPr id="11" name="卡片"/>
          <p:cNvSpPr/>
          <p:nvPr/>
        </p:nvSpPr>
        <p:spPr>
          <a:xfrm>
            <a:off x="3500552" y="1737360"/>
            <a:ext cx="2467280" cy="3749040"/>
          </a:xfrm>
          <a:prstGeom prst="roundRect">
            <a:avLst>
              <a:gd name="adj" fmla="val 2000"/>
            </a:avLst>
          </a:prstGeom>
          <a:solidFill>
            <a:srgbClr val="EFE8DB"/>
          </a:solidFill>
          <a:ln w="9525" cap="rnd">
            <a:solidFill>
              <a:srgbClr val="D6CAB4"/>
            </a:solidFill>
            <a:round/>
          </a:ln>
        </p:spPr>
      </p:sp>
      <p:sp>
        <p:nvSpPr>
          <p:cNvPr id="12" name="序号圈"/>
          <p:cNvSpPr/>
          <p:nvPr/>
        </p:nvSpPr>
        <p:spPr>
          <a:xfrm>
            <a:off x="4505592" y="1984248"/>
            <a:ext cx="457200" cy="457200"/>
          </a:xfrm>
          <a:prstGeom prst="ellipse">
            <a:avLst/>
          </a:prstGeom>
          <a:noFill/>
          <a:ln w="9525" cap="rnd">
            <a:solidFill>
              <a:srgbClr val="3E3830"/>
            </a:solidFill>
            <a:round/>
          </a:ln>
        </p:spPr>
      </p:sp>
      <p:sp>
        <p:nvSpPr>
          <p:cNvPr id="13" name="序号"/>
          <p:cNvSpPr txBox="1"/>
          <p:nvPr/>
        </p:nvSpPr>
        <p:spPr>
          <a:xfrm>
            <a:off x="4505592" y="1984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i="0" dirty="0">
                <a:solidFill>
                  <a:srgbClr val="2B2620"/>
                </a:solidFill>
                <a:latin typeface="Goudy Old Style"/>
                <a:ea typeface="Noto Serif SC"/>
                <a:cs typeface="Goudy Old Style"/>
              </a:rPr>
              <a:t>II</a:t>
            </a:r>
            <a:endParaRPr lang="zh-CN" altLang="en-US" sz="1500" b="0" i="0" dirty="0">
              <a:solidFill>
                <a:srgbClr val="2B2620"/>
              </a:solidFill>
              <a:latin typeface="Goudy Old Style"/>
              <a:ea typeface="Noto Serif SC"/>
              <a:cs typeface="Goudy Old Style"/>
            </a:endParaRPr>
          </a:p>
        </p:txBody>
      </p:sp>
      <p:pic>
        <p:nvPicPr>
          <p:cNvPr id="14" name="插画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9248" y="2560320"/>
            <a:ext cx="1389888" cy="1389888"/>
          </a:xfrm>
          <a:prstGeom prst="rect">
            <a:avLst/>
          </a:prstGeom>
        </p:spPr>
      </p:pic>
      <p:cxnSp>
        <p:nvCxnSpPr>
          <p:cNvPr id="15" name="分隔线"/>
          <p:cNvCxnSpPr/>
          <p:nvPr/>
        </p:nvCxnSpPr>
        <p:spPr>
          <a:xfrm>
            <a:off x="3994008" y="4096512"/>
            <a:ext cx="1480368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16" name="卡片标题"/>
          <p:cNvSpPr txBox="1"/>
          <p:nvPr/>
        </p:nvSpPr>
        <p:spPr>
          <a:xfrm>
            <a:off x="3637712" y="4206240"/>
            <a:ext cx="219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模态鸿沟</a:t>
            </a:r>
            <a:endParaRPr lang="zh-CN" altLang="en-US" sz="17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7" name="卡片说明"/>
          <p:cNvSpPr txBox="1"/>
          <p:nvPr/>
        </p:nvSpPr>
        <p:spPr>
          <a:xfrm>
            <a:off x="3610280" y="4626864"/>
            <a:ext cx="224782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 spc="-54">
                <a:solidFill>
                  <a:srgbClr val="3E3830"/>
                </a:solidFill>
                <a:latin typeface="Garamond"/>
                <a:ea typeface="华文楷体"/>
                <a:cs typeface="Garamond"/>
              </a:rPr>
              <a:t>视觉与语言特征分布不一致，</a:t>
            </a:r>
            <a:br>
              <a:rPr lang="zh-CN" altLang="en-US" sz="1350" b="0" i="0" dirty="0" spc="-54">
                <a:solidFill>
                  <a:srgbClr val="3E3830"/>
                </a:solidFill>
                <a:latin typeface="Garamond"/>
                <a:ea typeface="华文楷体"/>
                <a:cs typeface="Garamond"/>
              </a:rPr>
            </a:br>
            <a:r>
              <a:rPr lang="zh-CN" altLang="en-US" sz="1350" b="0" i="0" dirty="0" spc="-54">
                <a:solidFill>
                  <a:srgbClr val="3E3830"/>
                </a:solidFill>
                <a:latin typeface="Garamond"/>
                <a:ea typeface="华文楷体"/>
                <a:cs typeface="Garamond"/>
              </a:rPr>
              <a:t>直接比较会失真。</a:t>
            </a:r>
            <a:endParaRPr lang="zh-CN" altLang="en-US" sz="1350" b="0" i="0" dirty="0" spc="-54">
              <a:solidFill>
                <a:srgbClr val="3E3830"/>
              </a:solidFill>
              <a:latin typeface="Garamond"/>
              <a:ea typeface="华文楷体"/>
              <a:cs typeface="Garamond"/>
            </a:endParaRPr>
          </a:p>
        </p:txBody>
      </p:sp>
      <p:sp>
        <p:nvSpPr>
          <p:cNvPr id="18" name="卡片"/>
          <p:cNvSpPr/>
          <p:nvPr/>
        </p:nvSpPr>
        <p:spPr>
          <a:xfrm>
            <a:off x="6223864" y="1737360"/>
            <a:ext cx="2467280" cy="3749040"/>
          </a:xfrm>
          <a:prstGeom prst="roundRect">
            <a:avLst>
              <a:gd name="adj" fmla="val 2000"/>
            </a:avLst>
          </a:prstGeom>
          <a:solidFill>
            <a:srgbClr val="EFE8DB"/>
          </a:solidFill>
          <a:ln w="9525" cap="rnd">
            <a:solidFill>
              <a:srgbClr val="D6CAB4"/>
            </a:solidFill>
            <a:round/>
          </a:ln>
        </p:spPr>
      </p:sp>
      <p:sp>
        <p:nvSpPr>
          <p:cNvPr id="19" name="序号圈"/>
          <p:cNvSpPr/>
          <p:nvPr/>
        </p:nvSpPr>
        <p:spPr>
          <a:xfrm>
            <a:off x="7228904" y="1984248"/>
            <a:ext cx="457200" cy="457200"/>
          </a:xfrm>
          <a:prstGeom prst="ellipse">
            <a:avLst/>
          </a:prstGeom>
          <a:noFill/>
          <a:ln w="9525" cap="rnd">
            <a:solidFill>
              <a:srgbClr val="3E3830"/>
            </a:solidFill>
            <a:round/>
          </a:ln>
        </p:spPr>
      </p:sp>
      <p:sp>
        <p:nvSpPr>
          <p:cNvPr id="20" name="序号"/>
          <p:cNvSpPr txBox="1"/>
          <p:nvPr/>
        </p:nvSpPr>
        <p:spPr>
          <a:xfrm>
            <a:off x="7228904" y="1984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i="0" dirty="0">
                <a:solidFill>
                  <a:srgbClr val="2B2620"/>
                </a:solidFill>
                <a:latin typeface="Goudy Old Style"/>
                <a:ea typeface="Noto Serif SC"/>
                <a:cs typeface="Goudy Old Style"/>
              </a:rPr>
              <a:t>III</a:t>
            </a:r>
            <a:endParaRPr lang="zh-CN" altLang="en-US" sz="1500" b="0" i="0" dirty="0">
              <a:solidFill>
                <a:srgbClr val="2B2620"/>
              </a:solidFill>
              <a:latin typeface="Goudy Old Style"/>
              <a:ea typeface="Noto Serif SC"/>
              <a:cs typeface="Goudy Old Style"/>
            </a:endParaRPr>
          </a:p>
        </p:txBody>
      </p:sp>
      <p:pic>
        <p:nvPicPr>
          <p:cNvPr id="21" name="插画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62560" y="2560320"/>
            <a:ext cx="1389888" cy="1389888"/>
          </a:xfrm>
          <a:prstGeom prst="rect">
            <a:avLst/>
          </a:prstGeom>
        </p:spPr>
      </p:pic>
      <p:cxnSp>
        <p:nvCxnSpPr>
          <p:cNvPr id="22" name="分隔线"/>
          <p:cNvCxnSpPr/>
          <p:nvPr/>
        </p:nvCxnSpPr>
        <p:spPr>
          <a:xfrm>
            <a:off x="6717320" y="4096512"/>
            <a:ext cx="1480368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23" name="卡片标题"/>
          <p:cNvSpPr txBox="1"/>
          <p:nvPr/>
        </p:nvSpPr>
        <p:spPr>
          <a:xfrm>
            <a:off x="6361024" y="4206240"/>
            <a:ext cx="219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类别偏移</a:t>
            </a:r>
            <a:endParaRPr lang="zh-CN" altLang="en-US" sz="17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24" name="卡片说明"/>
          <p:cNvSpPr txBox="1"/>
          <p:nvPr/>
        </p:nvSpPr>
        <p:spPr>
          <a:xfrm>
            <a:off x="6333592" y="4626864"/>
            <a:ext cx="224782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 spc="-54">
                <a:solidFill>
                  <a:srgbClr val="3E3830"/>
                </a:solidFill>
                <a:latin typeface="Garamond"/>
                <a:ea typeface="华文楷体"/>
                <a:cs typeface="Garamond"/>
              </a:rPr>
              <a:t>测试类别从未在训练中出现，</a:t>
            </a:r>
            <a:br>
              <a:rPr lang="zh-CN" altLang="en-US" sz="1350" b="0" i="0" dirty="0" spc="-54">
                <a:solidFill>
                  <a:srgbClr val="3E3830"/>
                </a:solidFill>
                <a:latin typeface="Garamond"/>
                <a:ea typeface="华文楷体"/>
                <a:cs typeface="Garamond"/>
              </a:rPr>
            </a:br>
            <a:r>
              <a:rPr lang="zh-CN" altLang="en-US" sz="1350" b="0" i="0" dirty="0" spc="-54">
                <a:solidFill>
                  <a:srgbClr val="3E3830"/>
                </a:solidFill>
                <a:latin typeface="Garamond"/>
                <a:ea typeface="华文楷体"/>
                <a:cs typeface="Garamond"/>
              </a:rPr>
              <a:t>必须向未知泛化。</a:t>
            </a:r>
            <a:endParaRPr lang="zh-CN" altLang="en-US" sz="1350" b="0" i="0" dirty="0" spc="-54">
              <a:solidFill>
                <a:srgbClr val="3E3830"/>
              </a:solidFill>
              <a:latin typeface="Garamond"/>
              <a:ea typeface="华文楷体"/>
              <a:cs typeface="Garamond"/>
            </a:endParaRPr>
          </a:p>
        </p:txBody>
      </p:sp>
      <p:sp>
        <p:nvSpPr>
          <p:cNvPr id="25" name="卡片"/>
          <p:cNvSpPr/>
          <p:nvPr/>
        </p:nvSpPr>
        <p:spPr>
          <a:xfrm>
            <a:off x="8947175" y="1737360"/>
            <a:ext cx="2467280" cy="3749040"/>
          </a:xfrm>
          <a:prstGeom prst="roundRect">
            <a:avLst>
              <a:gd name="adj" fmla="val 2000"/>
            </a:avLst>
          </a:prstGeom>
          <a:solidFill>
            <a:srgbClr val="EFE8DB"/>
          </a:solidFill>
          <a:ln w="9525" cap="rnd">
            <a:solidFill>
              <a:srgbClr val="D6CAB4"/>
            </a:solidFill>
            <a:round/>
          </a:ln>
        </p:spPr>
      </p:sp>
      <p:sp>
        <p:nvSpPr>
          <p:cNvPr id="26" name="序号圈"/>
          <p:cNvSpPr/>
          <p:nvPr/>
        </p:nvSpPr>
        <p:spPr>
          <a:xfrm>
            <a:off x="9952215" y="1984248"/>
            <a:ext cx="457200" cy="457200"/>
          </a:xfrm>
          <a:prstGeom prst="ellipse">
            <a:avLst/>
          </a:prstGeom>
          <a:noFill/>
          <a:ln w="9525" cap="rnd">
            <a:solidFill>
              <a:srgbClr val="3E3830"/>
            </a:solidFill>
            <a:round/>
          </a:ln>
        </p:spPr>
      </p:sp>
      <p:sp>
        <p:nvSpPr>
          <p:cNvPr id="27" name="序号"/>
          <p:cNvSpPr txBox="1"/>
          <p:nvPr/>
        </p:nvSpPr>
        <p:spPr>
          <a:xfrm>
            <a:off x="9952215" y="1984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i="0" dirty="0">
                <a:solidFill>
                  <a:srgbClr val="2B2620"/>
                </a:solidFill>
                <a:latin typeface="Goudy Old Style"/>
                <a:ea typeface="Noto Serif SC"/>
                <a:cs typeface="Goudy Old Style"/>
              </a:rPr>
              <a:t>IV</a:t>
            </a:r>
            <a:endParaRPr lang="zh-CN" altLang="en-US" sz="1500" b="0" i="0" dirty="0">
              <a:solidFill>
                <a:srgbClr val="2B2620"/>
              </a:solidFill>
              <a:latin typeface="Goudy Old Style"/>
              <a:ea typeface="Noto Serif SC"/>
              <a:cs typeface="Goudy Old Style"/>
            </a:endParaRPr>
          </a:p>
        </p:txBody>
      </p:sp>
      <p:pic>
        <p:nvPicPr>
          <p:cNvPr id="28" name="插画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85871" y="2560320"/>
            <a:ext cx="1389888" cy="1389888"/>
          </a:xfrm>
          <a:prstGeom prst="rect">
            <a:avLst/>
          </a:prstGeom>
        </p:spPr>
      </p:pic>
      <p:cxnSp>
        <p:nvCxnSpPr>
          <p:cNvPr id="29" name="分隔线"/>
          <p:cNvCxnSpPr/>
          <p:nvPr/>
        </p:nvCxnSpPr>
        <p:spPr>
          <a:xfrm>
            <a:off x="9440631" y="4096512"/>
            <a:ext cx="1480368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30" name="卡片标题"/>
          <p:cNvSpPr txBox="1"/>
          <p:nvPr/>
        </p:nvSpPr>
        <p:spPr>
          <a:xfrm>
            <a:off x="9084335" y="4206240"/>
            <a:ext cx="219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判断可信</a:t>
            </a:r>
            <a:endParaRPr lang="zh-CN" altLang="en-US" sz="17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31" name="卡片说明"/>
          <p:cNvSpPr txBox="1"/>
          <p:nvPr/>
        </p:nvSpPr>
        <p:spPr>
          <a:xfrm>
            <a:off x="9056903" y="4626864"/>
            <a:ext cx="224782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 spc="-54">
                <a:solidFill>
                  <a:srgbClr val="3E3830"/>
                </a:solidFill>
                <a:latin typeface="Garamond"/>
                <a:ea typeface="华文楷体"/>
                <a:cs typeface="Garamond"/>
              </a:rPr>
              <a:t>模型为何如此判断，</a:t>
            </a:r>
            <a:br>
              <a:rPr lang="zh-CN" altLang="en-US" sz="1350" b="0" i="0" dirty="0" spc="-54">
                <a:solidFill>
                  <a:srgbClr val="3E3830"/>
                </a:solidFill>
                <a:latin typeface="Garamond"/>
                <a:ea typeface="华文楷体"/>
                <a:cs typeface="Garamond"/>
              </a:rPr>
            </a:br>
            <a:r>
              <a:rPr lang="zh-CN" altLang="en-US" sz="1350" b="0" i="0" dirty="0" spc="-54">
                <a:solidFill>
                  <a:srgbClr val="3E3830"/>
                </a:solidFill>
                <a:latin typeface="Garamond"/>
                <a:ea typeface="华文楷体"/>
                <a:cs typeface="Garamond"/>
              </a:rPr>
              <a:t>需要能追溯到具体证据。</a:t>
            </a:r>
            <a:endParaRPr lang="zh-CN" altLang="en-US" sz="1350" b="0" i="0" dirty="0" spc="-54">
              <a:solidFill>
                <a:srgbClr val="3E3830"/>
              </a:solidFill>
              <a:latin typeface="Garamond"/>
              <a:ea typeface="华文楷体"/>
              <a:cs typeface="Garamond"/>
            </a:endParaRPr>
          </a:p>
        </p:txBody>
      </p:sp>
      <p:sp>
        <p:nvSpPr>
          <p:cNvPr id="32" name="结论句"/>
          <p:cNvSpPr txBox="1"/>
          <p:nvPr/>
        </p:nvSpPr>
        <p:spPr>
          <a:xfrm>
            <a:off x="777240" y="566928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四个难题指向同一个要求：表征在样本极少时仍须可对齐、可追溯。</a:t>
            </a:r>
            <a:endParaRPr lang="zh-CN" altLang="en-US" sz="15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Part I：研究背景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标题"/>
          <p:cNvSpPr txBox="1"/>
          <p:nvPr/>
        </p:nvSpPr>
        <p:spPr>
          <a:xfrm>
            <a:off x="777240" y="804672"/>
            <a:ext cx="990569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问题陈述：在极少样本下对齐两种模态</a:t>
            </a:r>
            <a:endParaRPr lang="zh-CN" altLang="en-US" sz="28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4" name="参考文献"/>
          <p:cNvSpPr txBox="1"/>
          <p:nvPr/>
        </p:nvSpPr>
        <p:spPr>
          <a:xfrm>
            <a:off x="777240" y="6300216"/>
            <a:ext cx="935705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[2] Snell et al., NeurIPS 2017　[5] Radford et al., ICML 2021</a:t>
            </a:r>
            <a:endParaRPr lang="zh-CN" altLang="en-US" sz="9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5" name="首字底框"/>
          <p:cNvSpPr/>
          <p:nvPr/>
        </p:nvSpPr>
        <p:spPr>
          <a:xfrm>
            <a:off x="777240" y="1837944"/>
            <a:ext cx="868680" cy="868680"/>
          </a:xfrm>
          <a:prstGeom prst="rect">
            <a:avLst/>
          </a:prstGeom>
          <a:solidFill>
            <a:srgbClr val="EFE8DB"/>
          </a:solidFill>
          <a:ln w="12700" cap="rnd">
            <a:solidFill>
              <a:srgbClr val="B39363"/>
            </a:solidFill>
            <a:round/>
          </a:ln>
        </p:spPr>
      </p:sp>
      <p:sp>
        <p:nvSpPr>
          <p:cNvPr id="6" name="首字内框"/>
          <p:cNvSpPr/>
          <p:nvPr/>
        </p:nvSpPr>
        <p:spPr>
          <a:xfrm>
            <a:off x="832104" y="1892808"/>
            <a:ext cx="758952" cy="758952"/>
          </a:xfrm>
          <a:prstGeom prst="rect">
            <a:avLst/>
          </a:prstGeom>
          <a:noFill/>
          <a:ln w="6350" cap="rnd">
            <a:solidFill>
              <a:srgbClr val="B39363"/>
            </a:solidFill>
            <a:round/>
          </a:ln>
        </p:spPr>
      </p:sp>
      <p:sp>
        <p:nvSpPr>
          <p:cNvPr id="7" name="首字"/>
          <p:cNvSpPr txBox="1"/>
          <p:nvPr/>
        </p:nvSpPr>
        <p:spPr>
          <a:xfrm>
            <a:off x="777240" y="1837944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b="0" i="0" dirty="0">
                <a:solidFill>
                  <a:srgbClr val="A8533A"/>
                </a:solidFill>
                <a:latin typeface="Noto Serif SC SemiBold"/>
                <a:ea typeface="Noto Serif SC SemiBold"/>
                <a:cs typeface="Noto Serif SC SemiBold"/>
              </a:rPr>
              <a:t>小</a:t>
            </a:r>
            <a:endParaRPr lang="zh-CN" altLang="en-US" sz="4400" b="0" i="0" dirty="0">
              <a:solidFill>
                <a:srgbClr val="A8533A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8" name="正文"/>
          <p:cNvSpPr txBox="1"/>
          <p:nvPr/>
        </p:nvSpPr>
        <p:spPr>
          <a:xfrm>
            <a:off x="1920240" y="1783080"/>
            <a:ext cx="6995160" cy="4087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just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zh-CN" altLang="en-US" sz="16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样本学习要求模型只凭每类一到五个标注样本识别新类别。度量学习方法用类均值作为原型，在样本极少时，原型本身就带有很大的估计误差，类内变化几乎无从估计。</a:t>
            </a:r>
            <a:endParaRPr lang="zh-CN" altLang="en-US" sz="16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just" eaLnBrk="1" latinLnBrk="0" hangingPunct="1" indent="406400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zh-CN" altLang="en-US" sz="16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与此同时，大规模视觉–语言预训练提供了丰富的语义先验：类别名称与描述在训练前就已知道，而且不随样本数量变化。问题在于，两种模态的特征分布并不一致，直接比较图像与文本会产生系统偏差。</a:t>
            </a:r>
            <a:endParaRPr lang="zh-CN" altLang="en-US" sz="16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just" eaLnBrk="1" latinLnBrk="0" hangingPunct="1" indent="406400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zh-CN" altLang="en-US" sz="16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本工作的出发点是：用稳定的文本原型约束不稳定的视觉原型，让两种模态在同一空间中可比较，并让每一次判断都能追溯到具体的原型与描述。</a:t>
            </a:r>
            <a:endParaRPr lang="zh-CN" altLang="en-US" sz="16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9" name="装饰 · 旁注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1160" y="1892808"/>
            <a:ext cx="182880" cy="182880"/>
          </a:xfrm>
          <a:prstGeom prst="rect">
            <a:avLst/>
          </a:prstGeom>
        </p:spPr>
      </p:pic>
      <p:sp>
        <p:nvSpPr>
          <p:cNvPr id="10" name="旁注"/>
          <p:cNvSpPr txBox="1"/>
          <p:nvPr/>
        </p:nvSpPr>
        <p:spPr>
          <a:xfrm>
            <a:off x="9573768" y="1828800"/>
            <a:ext cx="1840687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 spc="-50">
                <a:solidFill>
                  <a:srgbClr val="766C5F"/>
                </a:solidFill>
                <a:latin typeface="Garamond"/>
                <a:ea typeface="华文楷体"/>
                <a:cs typeface="Garamond"/>
              </a:rPr>
              <a:t>原型误差随样本数下降，1-shot 时最大。</a:t>
            </a:r>
            <a:endParaRPr lang="zh-CN" altLang="en-US" sz="1250" b="0" i="0" dirty="0" spc="-50">
              <a:solidFill>
                <a:srgbClr val="766C5F"/>
              </a:solidFill>
              <a:latin typeface="Garamond"/>
              <a:ea typeface="华文楷体"/>
              <a:cs typeface="Garamond"/>
            </a:endParaRPr>
          </a:p>
        </p:txBody>
      </p:sp>
      <p:pic>
        <p:nvPicPr>
          <p:cNvPr id="11" name="装饰 · 旁注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1160" y="2650236"/>
            <a:ext cx="182880" cy="182880"/>
          </a:xfrm>
          <a:prstGeom prst="rect">
            <a:avLst/>
          </a:prstGeom>
        </p:spPr>
      </p:pic>
      <p:sp>
        <p:nvSpPr>
          <p:cNvPr id="12" name="旁注"/>
          <p:cNvSpPr txBox="1"/>
          <p:nvPr/>
        </p:nvSpPr>
        <p:spPr>
          <a:xfrm>
            <a:off x="9573768" y="2586228"/>
            <a:ext cx="1840687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 spc="-50">
                <a:solidFill>
                  <a:srgbClr val="766C5F"/>
                </a:solidFill>
                <a:latin typeface="Garamond"/>
                <a:ea typeface="华文楷体"/>
                <a:cs typeface="Garamond"/>
              </a:rPr>
              <a:t>文本描述来自类别名称扩写，无需额外标注。</a:t>
            </a:r>
            <a:endParaRPr lang="zh-CN" altLang="en-US" sz="1250" b="0" i="0" dirty="0" spc="-50">
              <a:solidFill>
                <a:srgbClr val="766C5F"/>
              </a:solidFill>
              <a:latin typeface="Garamond"/>
              <a:ea typeface="华文楷体"/>
              <a:cs typeface="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Part I：研究背景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标题"/>
          <p:cNvSpPr txBox="1"/>
          <p:nvPr/>
        </p:nvSpPr>
        <p:spPr>
          <a:xfrm>
            <a:off x="777240" y="804672"/>
            <a:ext cx="990569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小样本学习的十年：从度量到对齐</a:t>
            </a:r>
            <a:endParaRPr lang="zh-CN" altLang="en-US" sz="28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4" name="参考文献"/>
          <p:cNvSpPr txBox="1"/>
          <p:nvPr/>
        </p:nvSpPr>
        <p:spPr>
          <a:xfrm>
            <a:off x="777240" y="6300216"/>
            <a:ext cx="935705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[1] Vinyals et al., NeurIPS 2016　[2] Snell et al., NeurIPS 2017　[3] Finn et al., ICML 2017　[5] Radford et al., ICML 2021</a:t>
            </a:r>
            <a:endParaRPr lang="zh-CN" altLang="en-US" sz="9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cxnSp>
        <p:nvCxnSpPr>
          <p:cNvPr id="5" name="时间轴"/>
          <p:cNvCxnSpPr/>
          <p:nvPr/>
        </p:nvCxnSpPr>
        <p:spPr>
          <a:xfrm>
            <a:off x="777240" y="3520440"/>
            <a:ext cx="10637215" cy="0"/>
          </a:xfrm>
          <a:prstGeom prst="line">
            <a:avLst/>
          </a:prstGeom>
          <a:ln w="15875" cap="rnd">
            <a:solidFill>
              <a:srgbClr val="B39363"/>
            </a:solidFill>
            <a:round/>
          </a:ln>
        </p:spPr>
      </p:cxnSp>
      <p:sp>
        <p:nvSpPr>
          <p:cNvPr id="6" name="时间"/>
          <p:cNvSpPr txBox="1"/>
          <p:nvPr/>
        </p:nvSpPr>
        <p:spPr>
          <a:xfrm>
            <a:off x="777240" y="2624328"/>
            <a:ext cx="212744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0" i="0" dirty="0">
                <a:solidFill>
                  <a:srgbClr val="2B2620"/>
                </a:solidFill>
                <a:latin typeface="Goudy Old Style"/>
                <a:ea typeface="Noto Serif SC"/>
                <a:cs typeface="Goudy Old Style"/>
              </a:rPr>
              <a:t>2016</a:t>
            </a:r>
            <a:endParaRPr lang="zh-CN" altLang="en-US" sz="2100" b="0" i="0" dirty="0">
              <a:solidFill>
                <a:srgbClr val="2B2620"/>
              </a:solidFill>
              <a:latin typeface="Goudy Old Style"/>
              <a:ea typeface="Noto Serif SC"/>
              <a:cs typeface="Goudy Old Style"/>
            </a:endParaRPr>
          </a:p>
        </p:txBody>
      </p:sp>
      <p:cxnSp>
        <p:nvCxnSpPr>
          <p:cNvPr id="7" name="刻度"/>
          <p:cNvCxnSpPr/>
          <p:nvPr/>
        </p:nvCxnSpPr>
        <p:spPr>
          <a:xfrm>
            <a:off x="1840962" y="3227832"/>
            <a:ext cx="0" cy="146304"/>
          </a:xfrm>
          <a:prstGeom prst="line">
            <a:avLst/>
          </a:prstGeom>
          <a:ln w="9525" cap="rnd">
            <a:solidFill>
              <a:srgbClr val="B39363"/>
            </a:solidFill>
            <a:round/>
          </a:ln>
        </p:spPr>
      </p:cxnSp>
      <p:sp>
        <p:nvSpPr>
          <p:cNvPr id="8" name="节点"/>
          <p:cNvSpPr/>
          <p:nvPr/>
        </p:nvSpPr>
        <p:spPr>
          <a:xfrm>
            <a:off x="1740378" y="3419856"/>
            <a:ext cx="201168" cy="201168"/>
          </a:xfrm>
          <a:prstGeom prst="diamond">
            <a:avLst/>
          </a:prstGeom>
          <a:solidFill>
            <a:srgbClr val="B39363"/>
          </a:solidFill>
          <a:ln w="12700" cap="rnd">
            <a:solidFill>
              <a:srgbClr val="F7F3EA"/>
            </a:solidFill>
            <a:round/>
          </a:ln>
        </p:spPr>
      </p:sp>
      <p:sp>
        <p:nvSpPr>
          <p:cNvPr id="9" name="事件"/>
          <p:cNvSpPr txBox="1"/>
          <p:nvPr/>
        </p:nvSpPr>
        <p:spPr>
          <a:xfrm>
            <a:off x="886968" y="3849624"/>
            <a:ext cx="1907987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5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匹配网络</a:t>
            </a:r>
            <a:endParaRPr lang="zh-CN" altLang="en-US" sz="155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0" name="事件说明"/>
          <p:cNvSpPr txBox="1"/>
          <p:nvPr/>
        </p:nvSpPr>
        <p:spPr>
          <a:xfrm>
            <a:off x="886968" y="4288536"/>
            <a:ext cx="1907987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以注意力在支持集上做加权最近邻。</a:t>
            </a:r>
            <a:endParaRPr lang="zh-CN" altLang="en-US" sz="12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1" name="时间"/>
          <p:cNvSpPr txBox="1"/>
          <p:nvPr/>
        </p:nvSpPr>
        <p:spPr>
          <a:xfrm>
            <a:off x="2904683" y="2624328"/>
            <a:ext cx="212744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0" i="0" dirty="0">
                <a:solidFill>
                  <a:srgbClr val="2B2620"/>
                </a:solidFill>
                <a:latin typeface="Goudy Old Style"/>
                <a:ea typeface="Noto Serif SC"/>
                <a:cs typeface="Goudy Old Style"/>
              </a:rPr>
              <a:t>2017</a:t>
            </a:r>
            <a:endParaRPr lang="zh-CN" altLang="en-US" sz="2100" b="0" i="0" dirty="0">
              <a:solidFill>
                <a:srgbClr val="2B2620"/>
              </a:solidFill>
              <a:latin typeface="Goudy Old Style"/>
              <a:ea typeface="Noto Serif SC"/>
              <a:cs typeface="Goudy Old Style"/>
            </a:endParaRPr>
          </a:p>
        </p:txBody>
      </p:sp>
      <p:cxnSp>
        <p:nvCxnSpPr>
          <p:cNvPr id="12" name="刻度"/>
          <p:cNvCxnSpPr/>
          <p:nvPr/>
        </p:nvCxnSpPr>
        <p:spPr>
          <a:xfrm>
            <a:off x="3968405" y="3227832"/>
            <a:ext cx="0" cy="146304"/>
          </a:xfrm>
          <a:prstGeom prst="line">
            <a:avLst/>
          </a:prstGeom>
          <a:ln w="9525" cap="rnd">
            <a:solidFill>
              <a:srgbClr val="B39363"/>
            </a:solidFill>
            <a:round/>
          </a:ln>
        </p:spPr>
      </p:cxnSp>
      <p:sp>
        <p:nvSpPr>
          <p:cNvPr id="13" name="节点"/>
          <p:cNvSpPr/>
          <p:nvPr/>
        </p:nvSpPr>
        <p:spPr>
          <a:xfrm>
            <a:off x="3867821" y="3419856"/>
            <a:ext cx="201168" cy="201168"/>
          </a:xfrm>
          <a:prstGeom prst="diamond">
            <a:avLst/>
          </a:prstGeom>
          <a:solidFill>
            <a:srgbClr val="B39363"/>
          </a:solidFill>
          <a:ln w="12700" cap="rnd">
            <a:solidFill>
              <a:srgbClr val="F7F3EA"/>
            </a:solidFill>
            <a:round/>
          </a:ln>
        </p:spPr>
      </p:sp>
      <p:sp>
        <p:nvSpPr>
          <p:cNvPr id="14" name="事件"/>
          <p:cNvSpPr txBox="1"/>
          <p:nvPr/>
        </p:nvSpPr>
        <p:spPr>
          <a:xfrm>
            <a:off x="3014411" y="3849624"/>
            <a:ext cx="1907987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5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原型网络</a:t>
            </a:r>
            <a:endParaRPr lang="zh-CN" altLang="en-US" sz="155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5" name="事件说明"/>
          <p:cNvSpPr txBox="1"/>
          <p:nvPr/>
        </p:nvSpPr>
        <p:spPr>
          <a:xfrm>
            <a:off x="3014411" y="4288536"/>
            <a:ext cx="1907987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用类均值作原型，</a:t>
            </a:r>
            <a:b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</a:br>
            <a: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按距离分类。</a:t>
            </a:r>
            <a:endParaRPr lang="zh-CN" altLang="en-US" sz="12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6" name="时间"/>
          <p:cNvSpPr txBox="1"/>
          <p:nvPr/>
        </p:nvSpPr>
        <p:spPr>
          <a:xfrm>
            <a:off x="5032126" y="2624328"/>
            <a:ext cx="212744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0" i="0" dirty="0">
                <a:solidFill>
                  <a:srgbClr val="2B2620"/>
                </a:solidFill>
                <a:latin typeface="Goudy Old Style"/>
                <a:ea typeface="Noto Serif SC"/>
                <a:cs typeface="Goudy Old Style"/>
              </a:rPr>
              <a:t>2017</a:t>
            </a:r>
            <a:endParaRPr lang="zh-CN" altLang="en-US" sz="2100" b="0" i="0" dirty="0">
              <a:solidFill>
                <a:srgbClr val="2B2620"/>
              </a:solidFill>
              <a:latin typeface="Goudy Old Style"/>
              <a:ea typeface="Noto Serif SC"/>
              <a:cs typeface="Goudy Old Style"/>
            </a:endParaRPr>
          </a:p>
        </p:txBody>
      </p:sp>
      <p:cxnSp>
        <p:nvCxnSpPr>
          <p:cNvPr id="17" name="刻度"/>
          <p:cNvCxnSpPr/>
          <p:nvPr/>
        </p:nvCxnSpPr>
        <p:spPr>
          <a:xfrm>
            <a:off x="6095848" y="3227832"/>
            <a:ext cx="0" cy="146304"/>
          </a:xfrm>
          <a:prstGeom prst="line">
            <a:avLst/>
          </a:prstGeom>
          <a:ln w="9525" cap="rnd">
            <a:solidFill>
              <a:srgbClr val="B39363"/>
            </a:solidFill>
            <a:round/>
          </a:ln>
        </p:spPr>
      </p:cxnSp>
      <p:sp>
        <p:nvSpPr>
          <p:cNvPr id="18" name="节点"/>
          <p:cNvSpPr/>
          <p:nvPr/>
        </p:nvSpPr>
        <p:spPr>
          <a:xfrm>
            <a:off x="5995264" y="3419856"/>
            <a:ext cx="201168" cy="201168"/>
          </a:xfrm>
          <a:prstGeom prst="diamond">
            <a:avLst/>
          </a:prstGeom>
          <a:solidFill>
            <a:srgbClr val="B39363"/>
          </a:solidFill>
          <a:ln w="12700" cap="rnd">
            <a:solidFill>
              <a:srgbClr val="F7F3EA"/>
            </a:solidFill>
            <a:round/>
          </a:ln>
        </p:spPr>
      </p:sp>
      <p:sp>
        <p:nvSpPr>
          <p:cNvPr id="19" name="事件"/>
          <p:cNvSpPr txBox="1"/>
          <p:nvPr/>
        </p:nvSpPr>
        <p:spPr>
          <a:xfrm>
            <a:off x="5141854" y="3849624"/>
            <a:ext cx="1907987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5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MAML</a:t>
            </a:r>
            <a:endParaRPr lang="zh-CN" altLang="en-US" sz="155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20" name="事件说明"/>
          <p:cNvSpPr txBox="1"/>
          <p:nvPr/>
        </p:nvSpPr>
        <p:spPr>
          <a:xfrm>
            <a:off x="5141854" y="4288536"/>
            <a:ext cx="1907987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学习便于快速微调的</a:t>
            </a:r>
            <a:b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</a:br>
            <a: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初始参数。</a:t>
            </a:r>
            <a:endParaRPr lang="zh-CN" altLang="en-US" sz="12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21" name="时间"/>
          <p:cNvSpPr txBox="1"/>
          <p:nvPr/>
        </p:nvSpPr>
        <p:spPr>
          <a:xfrm>
            <a:off x="7159569" y="2624328"/>
            <a:ext cx="212744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0" i="0" dirty="0">
                <a:solidFill>
                  <a:srgbClr val="2B2620"/>
                </a:solidFill>
                <a:latin typeface="Goudy Old Style"/>
                <a:ea typeface="Noto Serif SC"/>
                <a:cs typeface="Goudy Old Style"/>
              </a:rPr>
              <a:t>2021</a:t>
            </a:r>
            <a:endParaRPr lang="zh-CN" altLang="en-US" sz="2100" b="0" i="0" dirty="0">
              <a:solidFill>
                <a:srgbClr val="2B2620"/>
              </a:solidFill>
              <a:latin typeface="Goudy Old Style"/>
              <a:ea typeface="Noto Serif SC"/>
              <a:cs typeface="Goudy Old Style"/>
            </a:endParaRPr>
          </a:p>
        </p:txBody>
      </p:sp>
      <p:cxnSp>
        <p:nvCxnSpPr>
          <p:cNvPr id="22" name="刻度"/>
          <p:cNvCxnSpPr/>
          <p:nvPr/>
        </p:nvCxnSpPr>
        <p:spPr>
          <a:xfrm>
            <a:off x="8223291" y="3227832"/>
            <a:ext cx="0" cy="146304"/>
          </a:xfrm>
          <a:prstGeom prst="line">
            <a:avLst/>
          </a:prstGeom>
          <a:ln w="9525" cap="rnd">
            <a:solidFill>
              <a:srgbClr val="B39363"/>
            </a:solidFill>
            <a:round/>
          </a:ln>
        </p:spPr>
      </p:cxnSp>
      <p:sp>
        <p:nvSpPr>
          <p:cNvPr id="23" name="节点"/>
          <p:cNvSpPr/>
          <p:nvPr/>
        </p:nvSpPr>
        <p:spPr>
          <a:xfrm>
            <a:off x="8122707" y="3419856"/>
            <a:ext cx="201168" cy="201168"/>
          </a:xfrm>
          <a:prstGeom prst="diamond">
            <a:avLst/>
          </a:prstGeom>
          <a:solidFill>
            <a:srgbClr val="B39363"/>
          </a:solidFill>
          <a:ln w="12700" cap="rnd">
            <a:solidFill>
              <a:srgbClr val="F7F3EA"/>
            </a:solidFill>
            <a:round/>
          </a:ln>
        </p:spPr>
      </p:sp>
      <p:sp>
        <p:nvSpPr>
          <p:cNvPr id="24" name="事件"/>
          <p:cNvSpPr txBox="1"/>
          <p:nvPr/>
        </p:nvSpPr>
        <p:spPr>
          <a:xfrm>
            <a:off x="7269297" y="3849624"/>
            <a:ext cx="1907987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5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CLIP</a:t>
            </a:r>
            <a:endParaRPr lang="zh-CN" altLang="en-US" sz="155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25" name="事件说明"/>
          <p:cNvSpPr txBox="1"/>
          <p:nvPr/>
        </p:nvSpPr>
        <p:spPr>
          <a:xfrm>
            <a:off x="7269297" y="4288536"/>
            <a:ext cx="1907987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大规模图文对比学习带来零样本能力。</a:t>
            </a:r>
            <a:endParaRPr lang="zh-CN" altLang="en-US" sz="12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26" name="时间"/>
          <p:cNvSpPr txBox="1"/>
          <p:nvPr/>
        </p:nvSpPr>
        <p:spPr>
          <a:xfrm>
            <a:off x="9287012" y="2624328"/>
            <a:ext cx="212744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2026</a:t>
            </a:r>
            <a:endParaRPr lang="zh-CN" altLang="en-US" sz="2400" b="0" i="0" dirty="0">
              <a:solidFill>
                <a:srgbClr val="A8533A"/>
              </a:solidFill>
              <a:latin typeface="Goudy Old Style"/>
              <a:ea typeface="Noto Serif SC"/>
              <a:cs typeface="Goudy Old Style"/>
            </a:endParaRPr>
          </a:p>
        </p:txBody>
      </p:sp>
      <p:cxnSp>
        <p:nvCxnSpPr>
          <p:cNvPr id="27" name="刻度"/>
          <p:cNvCxnSpPr/>
          <p:nvPr/>
        </p:nvCxnSpPr>
        <p:spPr>
          <a:xfrm>
            <a:off x="10350734" y="3227832"/>
            <a:ext cx="0" cy="146304"/>
          </a:xfrm>
          <a:prstGeom prst="line">
            <a:avLst/>
          </a:prstGeom>
          <a:ln w="9525" cap="rnd">
            <a:solidFill>
              <a:srgbClr val="B39363"/>
            </a:solidFill>
            <a:round/>
          </a:ln>
        </p:spPr>
      </p:cxnSp>
      <p:sp>
        <p:nvSpPr>
          <p:cNvPr id="28" name="节点"/>
          <p:cNvSpPr/>
          <p:nvPr/>
        </p:nvSpPr>
        <p:spPr>
          <a:xfrm>
            <a:off x="10213574" y="3383280"/>
            <a:ext cx="274320" cy="274320"/>
          </a:xfrm>
          <a:prstGeom prst="diamond">
            <a:avLst/>
          </a:prstGeom>
          <a:solidFill>
            <a:srgbClr val="A8533A"/>
          </a:solidFill>
          <a:ln w="12700" cap="rnd">
            <a:solidFill>
              <a:srgbClr val="F7F3EA"/>
            </a:solidFill>
            <a:round/>
          </a:ln>
        </p:spPr>
      </p:sp>
      <p:sp>
        <p:nvSpPr>
          <p:cNvPr id="29" name="事件"/>
          <p:cNvSpPr txBox="1"/>
          <p:nvPr/>
        </p:nvSpPr>
        <p:spPr>
          <a:xfrm>
            <a:off x="9396740" y="3849624"/>
            <a:ext cx="1907987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5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本文</a:t>
            </a:r>
            <a:endParaRPr lang="zh-CN" altLang="en-US" sz="155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30" name="事件说明"/>
          <p:cNvSpPr txBox="1"/>
          <p:nvPr/>
        </p:nvSpPr>
        <p:spPr>
          <a:xfrm>
            <a:off x="9396740" y="4288536"/>
            <a:ext cx="1907987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以文本原型约束视觉原型，</a:t>
            </a:r>
            <a:b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</a:br>
            <a: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统一两种模态。</a:t>
            </a:r>
            <a:endParaRPr lang="zh-CN" altLang="en-US" sz="12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31" name="本文标记"/>
          <p:cNvSpPr/>
          <p:nvPr/>
        </p:nvSpPr>
        <p:spPr>
          <a:xfrm>
            <a:off x="9341876" y="2514600"/>
            <a:ext cx="2017715" cy="3063240"/>
          </a:xfrm>
          <a:prstGeom prst="roundRect">
            <a:avLst>
              <a:gd name="adj" fmla="val 3000"/>
            </a:avLst>
          </a:prstGeom>
          <a:noFill/>
          <a:ln w="9525" cap="rnd">
            <a:solidFill>
              <a:srgbClr val="A8533A"/>
            </a:solidFill>
            <a:prstDash val="dash"/>
            <a:round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Part I：研究背景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标题"/>
          <p:cNvSpPr txBox="1"/>
          <p:nvPr/>
        </p:nvSpPr>
        <p:spPr>
          <a:xfrm>
            <a:off x="777240" y="804672"/>
            <a:ext cx="990569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现有方法只覆盖了问题的一部分</a:t>
            </a:r>
            <a:endParaRPr lang="zh-CN" altLang="en-US" sz="28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4" name="参考文献"/>
          <p:cNvSpPr txBox="1"/>
          <p:nvPr/>
        </p:nvSpPr>
        <p:spPr>
          <a:xfrm>
            <a:off x="777240" y="6300216"/>
            <a:ext cx="935705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[2] Snell et al., NeurIPS 2017　[3] Finn et al., ICML 2017　[5] Radford et al., ICML 2021　[6] Zhang et al., ECCV 2022</a:t>
            </a:r>
            <a:endParaRPr lang="zh-CN" altLang="en-US" sz="9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graphicFrame>
        <p:nvGraphicFramePr>
          <p:cNvPr id="5" name="相关工作表"/>
          <p:cNvGraphicFramePr>
            <a:graphicFrameLocks noGrp="1"/>
          </p:cNvGraphicFramePr>
          <p:nvPr/>
        </p:nvGraphicFramePr>
        <p:xfrm>
          <a:off x="777240" y="1737360"/>
          <a:ext cx="10637215" cy="2889504"/>
        </p:xfrm>
        <a:graphic>
          <a:graphicData uri="http://schemas.openxmlformats.org/drawingml/2006/table">
            <a:tbl>
              <a:tblPr firstRow="1" bandRow="0"/>
              <a:tblGrid>
                <a:gridCol w="1957807"/>
                <a:gridCol w="2057248"/>
                <a:gridCol w="1655540"/>
                <a:gridCol w="1655540"/>
                <a:gridCol w="1655540"/>
                <a:gridCol w="1655540"/>
              </a:tblGrid>
              <a:tr h="512064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方法</a:t>
                      </a:r>
                      <a:endParaRPr lang="zh-CN" altLang="en-US" sz="130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来源</a:t>
                      </a:r>
                      <a:endParaRPr lang="zh-CN" altLang="en-US" sz="130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多模态</a:t>
                      </a:r>
                      <a:endParaRPr lang="zh-CN" altLang="en-US" sz="130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小样本</a:t>
                      </a:r>
                      <a:endParaRPr lang="zh-CN" altLang="en-US" sz="130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可解释</a:t>
                      </a:r>
                      <a:endParaRPr lang="zh-CN" altLang="en-US" sz="130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无需微调</a:t>
                      </a:r>
                      <a:endParaRPr lang="zh-CN" altLang="en-US" sz="130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2B262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ProtoNet</a:t>
                      </a:r>
                      <a:endParaRPr lang="zh-CN" altLang="en-US" sz="1350" b="0" i="0" dirty="0">
                        <a:solidFill>
                          <a:srgbClr val="2B262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766C5F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NeurIPS 2017</a:t>
                      </a:r>
                      <a:endParaRPr lang="zh-CN" altLang="en-US" sz="1300" b="0" i="0" dirty="0">
                        <a:solidFill>
                          <a:srgbClr val="766C5F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A3998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○</a:t>
                      </a:r>
                      <a:endParaRPr lang="zh-CN" altLang="en-US" sz="1500" b="0" i="0" dirty="0">
                        <a:solidFill>
                          <a:srgbClr val="A3998A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2B2620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●</a:t>
                      </a:r>
                      <a:endParaRPr lang="zh-CN" altLang="en-US" sz="1500" b="0" i="0" dirty="0">
                        <a:solidFill>
                          <a:srgbClr val="2B2620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8B6E42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◐</a:t>
                      </a:r>
                      <a:endParaRPr lang="zh-CN" altLang="en-US" sz="1500" b="0" i="0" dirty="0">
                        <a:solidFill>
                          <a:srgbClr val="8B6E42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2B2620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●</a:t>
                      </a:r>
                      <a:endParaRPr lang="zh-CN" altLang="en-US" sz="1500" b="0" i="0" dirty="0">
                        <a:solidFill>
                          <a:srgbClr val="2B2620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75488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2B262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MAML</a:t>
                      </a:r>
                      <a:endParaRPr lang="zh-CN" altLang="en-US" sz="1350" b="0" i="0" dirty="0">
                        <a:solidFill>
                          <a:srgbClr val="2B262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766C5F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ICML 2017</a:t>
                      </a:r>
                      <a:endParaRPr lang="zh-CN" altLang="en-US" sz="1300" b="0" i="0" dirty="0">
                        <a:solidFill>
                          <a:srgbClr val="766C5F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A3998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○</a:t>
                      </a:r>
                      <a:endParaRPr lang="zh-CN" altLang="en-US" sz="1500" b="0" i="0" dirty="0">
                        <a:solidFill>
                          <a:srgbClr val="A3998A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2B2620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●</a:t>
                      </a:r>
                      <a:endParaRPr lang="zh-CN" altLang="en-US" sz="1500" b="0" i="0" dirty="0">
                        <a:solidFill>
                          <a:srgbClr val="2B2620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A3998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○</a:t>
                      </a:r>
                      <a:endParaRPr lang="zh-CN" altLang="en-US" sz="1500" b="0" i="0" dirty="0">
                        <a:solidFill>
                          <a:srgbClr val="A3998A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A3998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○</a:t>
                      </a:r>
                      <a:endParaRPr lang="zh-CN" altLang="en-US" sz="1500" b="0" i="0" dirty="0">
                        <a:solidFill>
                          <a:srgbClr val="A3998A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75488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2B262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CLIP</a:t>
                      </a:r>
                      <a:endParaRPr lang="zh-CN" altLang="en-US" sz="1350" b="0" i="0" dirty="0">
                        <a:solidFill>
                          <a:srgbClr val="2B262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766C5F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ICML 2021</a:t>
                      </a:r>
                      <a:endParaRPr lang="zh-CN" altLang="en-US" sz="1300" b="0" i="0" dirty="0">
                        <a:solidFill>
                          <a:srgbClr val="766C5F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2B2620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●</a:t>
                      </a:r>
                      <a:endParaRPr lang="zh-CN" altLang="en-US" sz="1500" b="0" i="0" dirty="0">
                        <a:solidFill>
                          <a:srgbClr val="2B2620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8B6E42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◐</a:t>
                      </a:r>
                      <a:endParaRPr lang="zh-CN" altLang="en-US" sz="1500" b="0" i="0" dirty="0">
                        <a:solidFill>
                          <a:srgbClr val="8B6E42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A3998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○</a:t>
                      </a:r>
                      <a:endParaRPr lang="zh-CN" altLang="en-US" sz="1500" b="0" i="0" dirty="0">
                        <a:solidFill>
                          <a:srgbClr val="A3998A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2B2620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●</a:t>
                      </a:r>
                      <a:endParaRPr lang="zh-CN" altLang="en-US" sz="1500" b="0" i="0" dirty="0">
                        <a:solidFill>
                          <a:srgbClr val="2B2620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75488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2B262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Tip-Adapter</a:t>
                      </a:r>
                      <a:endParaRPr lang="zh-CN" altLang="en-US" sz="1350" b="0" i="0" dirty="0">
                        <a:solidFill>
                          <a:srgbClr val="2B262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766C5F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ECCV 2022</a:t>
                      </a:r>
                      <a:endParaRPr lang="zh-CN" altLang="en-US" sz="1300" b="0" i="0" dirty="0">
                        <a:solidFill>
                          <a:srgbClr val="766C5F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2B2620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●</a:t>
                      </a:r>
                      <a:endParaRPr lang="zh-CN" altLang="en-US" sz="1500" b="0" i="0" dirty="0">
                        <a:solidFill>
                          <a:srgbClr val="2B2620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2B2620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●</a:t>
                      </a:r>
                      <a:endParaRPr lang="zh-CN" altLang="en-US" sz="1500" b="0" i="0" dirty="0">
                        <a:solidFill>
                          <a:srgbClr val="2B2620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A3998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○</a:t>
                      </a:r>
                      <a:endParaRPr lang="zh-CN" altLang="en-US" sz="1500" b="0" i="0" dirty="0">
                        <a:solidFill>
                          <a:srgbClr val="A3998A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2B2620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●</a:t>
                      </a:r>
                      <a:endParaRPr lang="zh-CN" altLang="en-US" sz="1500" b="0" i="0" dirty="0">
                        <a:solidFill>
                          <a:srgbClr val="2B2620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75488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本文</a:t>
                      </a:r>
                      <a:endParaRPr lang="zh-CN" altLang="en-US" sz="135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solidFill>
                      <a:srgbClr val="F1E0D4"/>
                    </a:solidFill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766C5F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—</a:t>
                      </a:r>
                      <a:endParaRPr lang="zh-CN" altLang="en-US" sz="1300" b="0" i="0" dirty="0">
                        <a:solidFill>
                          <a:srgbClr val="766C5F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solidFill>
                      <a:srgbClr val="F1E0D4"/>
                    </a:solidFill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A8533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●</a:t>
                      </a:r>
                      <a:endParaRPr lang="zh-CN" altLang="en-US" sz="1500" b="0" i="0" dirty="0">
                        <a:solidFill>
                          <a:srgbClr val="A8533A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solidFill>
                      <a:srgbClr val="F1E0D4"/>
                    </a:solidFill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A8533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●</a:t>
                      </a:r>
                      <a:endParaRPr lang="zh-CN" altLang="en-US" sz="1500" b="0" i="0" dirty="0">
                        <a:solidFill>
                          <a:srgbClr val="A8533A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solidFill>
                      <a:srgbClr val="F1E0D4"/>
                    </a:solidFill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A8533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●</a:t>
                      </a:r>
                      <a:endParaRPr lang="zh-CN" altLang="en-US" sz="1500" b="0" i="0" dirty="0">
                        <a:solidFill>
                          <a:srgbClr val="A8533A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solidFill>
                      <a:srgbClr val="F1E0D4"/>
                    </a:solidFill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500" b="0" i="0" dirty="0">
                          <a:solidFill>
                            <a:srgbClr val="A8533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●</a:t>
                      </a:r>
                      <a:endParaRPr lang="zh-CN" altLang="en-US" sz="1500" b="0" i="0" dirty="0">
                        <a:solidFill>
                          <a:srgbClr val="A8533A"/>
                        </a:solidFill>
                        <a:latin typeface="Segoe UI Symbol"/>
                        <a:ea typeface="Segoe UI Symbol"/>
                        <a:cs typeface="Segoe UI Symbol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solidFill>
                      <a:srgbClr val="F1E0D4"/>
                    </a:solidFill>
                  </a:tcPr>
                </a:tc>
              </a:tr>
            </a:tbl>
          </a:graphicData>
        </a:graphic>
      </p:graphicFrame>
      <p:sp>
        <p:nvSpPr>
          <p:cNvPr id="6" name="图例"/>
          <p:cNvSpPr txBox="1"/>
          <p:nvPr/>
        </p:nvSpPr>
        <p:spPr>
          <a:xfrm>
            <a:off x="777240" y="4773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2B2620"/>
                </a:solidFill>
                <a:latin typeface="Segoe UI Symbol"/>
                <a:ea typeface="Segoe UI Symbol"/>
                <a:cs typeface="Segoe UI Symbol"/>
              </a:rPr>
              <a:t>●</a:t>
            </a:r>
            <a:r>
              <a:rPr lang="zh-CN" altLang="en-US" sz="120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 支持　　</a:t>
            </a:r>
            <a:r>
              <a:rPr lang="zh-CN" altLang="en-US" sz="1300" b="0" i="0" dirty="0">
                <a:solidFill>
                  <a:srgbClr val="8B6E42"/>
                </a:solidFill>
                <a:latin typeface="Segoe UI Symbol"/>
                <a:ea typeface="Segoe UI Symbol"/>
                <a:cs typeface="Segoe UI Symbol"/>
              </a:rPr>
              <a:t>◐</a:t>
            </a:r>
            <a:r>
              <a:rPr lang="zh-CN" altLang="en-US" sz="120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 部分支持　　</a:t>
            </a:r>
            <a:r>
              <a:rPr lang="zh-CN" altLang="en-US" sz="1300" b="0" i="0" dirty="0">
                <a:solidFill>
                  <a:srgbClr val="A3998A"/>
                </a:solidFill>
                <a:latin typeface="Segoe UI Symbol"/>
                <a:ea typeface="Segoe UI Symbol"/>
                <a:cs typeface="Segoe UI Symbol"/>
              </a:rPr>
              <a:t>○</a:t>
            </a:r>
            <a:r>
              <a:rPr lang="zh-CN" altLang="en-US" sz="120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 不支持</a:t>
            </a:r>
            <a:endParaRPr lang="zh-CN" altLang="en-US" sz="120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7" name="结论句"/>
          <p:cNvSpPr txBox="1"/>
          <p:nvPr/>
        </p:nvSpPr>
        <p:spPr>
          <a:xfrm>
            <a:off x="5470855" y="477316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 spc="-52">
                <a:solidFill>
                  <a:srgbClr val="2B2620"/>
                </a:solidFill>
                <a:latin typeface="Garamond"/>
                <a:ea typeface="华文楷体"/>
                <a:cs typeface="Garamond"/>
              </a:rPr>
              <a:t>本文是唯一同时满足四项的方法。</a:t>
            </a:r>
            <a:endParaRPr lang="zh-CN" altLang="en-US" sz="1300" b="0" i="0" dirty="0" spc="-52">
              <a:solidFill>
                <a:srgbClr val="2B2620"/>
              </a:solidFill>
              <a:latin typeface="Garamond"/>
              <a:ea typeface="华文楷体"/>
              <a:cs typeface="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Part II：方法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标题"/>
          <p:cNvSpPr txBox="1"/>
          <p:nvPr/>
        </p:nvSpPr>
        <p:spPr>
          <a:xfrm>
            <a:off x="777240" y="804672"/>
            <a:ext cx="990569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三个模块把图像与文本映射到同一组原型</a:t>
            </a:r>
            <a:endParaRPr lang="zh-CN" altLang="en-US" sz="28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4" name="参考文献"/>
          <p:cNvSpPr txBox="1"/>
          <p:nvPr/>
        </p:nvSpPr>
        <p:spPr>
          <a:xfrm>
            <a:off x="777240" y="6300216"/>
            <a:ext cx="935705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[7] Dosovitskiy et al., ICLR 2021　[8] Devlin et al., NAACL 2019</a:t>
            </a:r>
            <a:endParaRPr lang="zh-CN" altLang="en-US" sz="9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5" name="输入框"/>
          <p:cNvSpPr/>
          <p:nvPr/>
        </p:nvSpPr>
        <p:spPr>
          <a:xfrm>
            <a:off x="777240" y="2011680"/>
            <a:ext cx="1783080" cy="2743200"/>
          </a:xfrm>
          <a:prstGeom prst="roundRect">
            <a:avLst>
              <a:gd name="adj" fmla="val 3000"/>
            </a:avLst>
          </a:prstGeom>
          <a:noFill/>
          <a:ln w="12700" cap="rnd">
            <a:solidFill>
              <a:srgbClr val="B39363"/>
            </a:solidFill>
            <a:prstDash val="dash"/>
            <a:round/>
          </a:ln>
        </p:spPr>
      </p:sp>
      <p:sp>
        <p:nvSpPr>
          <p:cNvPr id="6" name="输入标题"/>
          <p:cNvSpPr txBox="1"/>
          <p:nvPr/>
        </p:nvSpPr>
        <p:spPr>
          <a:xfrm>
            <a:off x="777240" y="2322576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输入</a:t>
            </a:r>
            <a:endParaRPr lang="zh-CN" altLang="en-US" sz="16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7" name="输入说明"/>
          <p:cNvSpPr txBox="1"/>
          <p:nvPr/>
        </p:nvSpPr>
        <p:spPr>
          <a:xfrm>
            <a:off x="777240" y="26700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N-way K-shot 任务</a:t>
            </a:r>
            <a:endParaRPr lang="zh-CN" altLang="en-US" sz="11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8" name="输入项"/>
          <p:cNvSpPr/>
          <p:nvPr/>
        </p:nvSpPr>
        <p:spPr>
          <a:xfrm>
            <a:off x="923544" y="3017520"/>
            <a:ext cx="1490472" cy="420624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9525" cap="rnd">
            <a:solidFill>
              <a:srgbClr val="D3C7B1"/>
            </a:solidFill>
            <a:round/>
          </a:ln>
        </p:spPr>
        <p:txBody>
          <a:bodyPr wrap="square" lIns="36576" tIns="0" rIns="36576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支持集图像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9" name="输入项"/>
          <p:cNvSpPr/>
          <p:nvPr/>
        </p:nvSpPr>
        <p:spPr>
          <a:xfrm>
            <a:off x="923544" y="3566160"/>
            <a:ext cx="1490472" cy="420624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9525" cap="rnd">
            <a:solidFill>
              <a:srgbClr val="D3C7B1"/>
            </a:solidFill>
            <a:round/>
          </a:ln>
        </p:spPr>
        <p:txBody>
          <a:bodyPr wrap="square" lIns="36576" tIns="0" rIns="36576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类别描述文本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0" name="输入项"/>
          <p:cNvSpPr/>
          <p:nvPr/>
        </p:nvSpPr>
        <p:spPr>
          <a:xfrm>
            <a:off x="923544" y="4114800"/>
            <a:ext cx="1490472" cy="420624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9525" cap="rnd">
            <a:solidFill>
              <a:srgbClr val="D3C7B1"/>
            </a:solidFill>
            <a:round/>
          </a:ln>
        </p:spPr>
        <p:txBody>
          <a:bodyPr wrap="square" lIns="36576" tIns="0" rIns="36576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查询图像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1" name="模块"/>
          <p:cNvSpPr/>
          <p:nvPr/>
        </p:nvSpPr>
        <p:spPr>
          <a:xfrm>
            <a:off x="3017520" y="2011680"/>
            <a:ext cx="2494178" cy="2743200"/>
          </a:xfrm>
          <a:prstGeom prst="roundRect">
            <a:avLst>
              <a:gd name="adj" fmla="val 3000"/>
            </a:avLst>
          </a:prstGeom>
          <a:solidFill>
            <a:srgbClr val="EFE8DB"/>
          </a:solidFill>
          <a:ln w="9525" cap="rnd">
            <a:solidFill>
              <a:srgbClr val="D6CAB4"/>
            </a:solidFill>
            <a:round/>
          </a:ln>
        </p:spPr>
      </p:sp>
      <p:sp>
        <p:nvSpPr>
          <p:cNvPr id="12" name="序号圈"/>
          <p:cNvSpPr/>
          <p:nvPr/>
        </p:nvSpPr>
        <p:spPr>
          <a:xfrm>
            <a:off x="4054297" y="1801368"/>
            <a:ext cx="420624" cy="420624"/>
          </a:xfrm>
          <a:prstGeom prst="ellipse">
            <a:avLst/>
          </a:prstGeom>
          <a:solidFill>
            <a:srgbClr val="F7F3EA"/>
          </a:solidFill>
          <a:ln w="9525" cap="rnd">
            <a:solidFill>
              <a:srgbClr val="3E3830"/>
            </a:solidFill>
            <a:round/>
          </a:ln>
        </p:spPr>
      </p:sp>
      <p:sp>
        <p:nvSpPr>
          <p:cNvPr id="13" name="序号"/>
          <p:cNvSpPr txBox="1"/>
          <p:nvPr/>
        </p:nvSpPr>
        <p:spPr>
          <a:xfrm>
            <a:off x="4054297" y="18013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2B2620"/>
                </a:solidFill>
                <a:latin typeface="Goudy Old Style"/>
                <a:ea typeface="Noto Serif SC"/>
                <a:cs typeface="Goudy Old Style"/>
              </a:rPr>
              <a:t>I</a:t>
            </a:r>
            <a:endParaRPr lang="zh-CN" altLang="en-US" sz="1400" b="0" i="0" dirty="0">
              <a:solidFill>
                <a:srgbClr val="2B2620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14" name="模块名"/>
          <p:cNvSpPr txBox="1"/>
          <p:nvPr/>
        </p:nvSpPr>
        <p:spPr>
          <a:xfrm>
            <a:off x="3017520" y="2322576"/>
            <a:ext cx="249417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编码</a:t>
            </a:r>
            <a:endParaRPr lang="zh-CN" altLang="en-US" sz="16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5" name="模块说明"/>
          <p:cNvSpPr txBox="1"/>
          <p:nvPr/>
        </p:nvSpPr>
        <p:spPr>
          <a:xfrm>
            <a:off x="3017520" y="2670048"/>
            <a:ext cx="249417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共享编码器 f(·)</a:t>
            </a:r>
            <a:endParaRPr lang="zh-CN" altLang="en-US" sz="11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6" name="子模块"/>
          <p:cNvSpPr/>
          <p:nvPr/>
        </p:nvSpPr>
        <p:spPr>
          <a:xfrm>
            <a:off x="3182112" y="3017520"/>
            <a:ext cx="2164994" cy="420624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9525" cap="rnd">
            <a:solidFill>
              <a:srgbClr val="D3C7B1"/>
            </a:solidFill>
            <a:round/>
          </a:ln>
        </p:spPr>
        <p:txBody>
          <a:bodyPr wrap="square" lIns="36576" tIns="0" rIns="36576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视觉分支 · ViT-B/16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7" name="子模块"/>
          <p:cNvSpPr/>
          <p:nvPr/>
        </p:nvSpPr>
        <p:spPr>
          <a:xfrm>
            <a:off x="3182112" y="3566160"/>
            <a:ext cx="2164994" cy="420624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9525" cap="rnd">
            <a:solidFill>
              <a:srgbClr val="D3C7B1"/>
            </a:solidFill>
            <a:round/>
          </a:ln>
        </p:spPr>
        <p:txBody>
          <a:bodyPr wrap="square" lIns="36576" tIns="0" rIns="36576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文本分支 · BERT-base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8" name="子模块"/>
          <p:cNvSpPr/>
          <p:nvPr/>
        </p:nvSpPr>
        <p:spPr>
          <a:xfrm>
            <a:off x="3182112" y="4114800"/>
            <a:ext cx="2164994" cy="420624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9525" cap="rnd">
            <a:solidFill>
              <a:srgbClr val="D3C7B1"/>
            </a:solidFill>
            <a:round/>
          </a:ln>
        </p:spPr>
        <p:txBody>
          <a:bodyPr wrap="square" lIns="36576" tIns="0" rIns="36576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投影到 512 维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9" name="模块"/>
          <p:cNvSpPr/>
          <p:nvPr/>
        </p:nvSpPr>
        <p:spPr>
          <a:xfrm>
            <a:off x="5968898" y="2011680"/>
            <a:ext cx="2494178" cy="2743200"/>
          </a:xfrm>
          <a:prstGeom prst="roundRect">
            <a:avLst>
              <a:gd name="adj" fmla="val 3000"/>
            </a:avLst>
          </a:prstGeom>
          <a:solidFill>
            <a:srgbClr val="EFE8DB"/>
          </a:solidFill>
          <a:ln w="9525" cap="rnd">
            <a:solidFill>
              <a:srgbClr val="D6CAB4"/>
            </a:solidFill>
            <a:round/>
          </a:ln>
        </p:spPr>
      </p:sp>
      <p:sp>
        <p:nvSpPr>
          <p:cNvPr id="20" name="序号圈"/>
          <p:cNvSpPr/>
          <p:nvPr/>
        </p:nvSpPr>
        <p:spPr>
          <a:xfrm>
            <a:off x="7005676" y="1801368"/>
            <a:ext cx="420624" cy="420624"/>
          </a:xfrm>
          <a:prstGeom prst="ellipse">
            <a:avLst/>
          </a:prstGeom>
          <a:solidFill>
            <a:srgbClr val="F7F3EA"/>
          </a:solidFill>
          <a:ln w="9525" cap="rnd">
            <a:solidFill>
              <a:srgbClr val="3E3830"/>
            </a:solidFill>
            <a:round/>
          </a:ln>
        </p:spPr>
      </p:sp>
      <p:sp>
        <p:nvSpPr>
          <p:cNvPr id="21" name="序号"/>
          <p:cNvSpPr txBox="1"/>
          <p:nvPr/>
        </p:nvSpPr>
        <p:spPr>
          <a:xfrm>
            <a:off x="7005676" y="18013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2B2620"/>
                </a:solidFill>
                <a:latin typeface="Goudy Old Style"/>
                <a:ea typeface="Noto Serif SC"/>
                <a:cs typeface="Goudy Old Style"/>
              </a:rPr>
              <a:t>II</a:t>
            </a:r>
            <a:endParaRPr lang="zh-CN" altLang="en-US" sz="1400" b="0" i="0" dirty="0">
              <a:solidFill>
                <a:srgbClr val="2B2620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22" name="模块名"/>
          <p:cNvSpPr txBox="1"/>
          <p:nvPr/>
        </p:nvSpPr>
        <p:spPr>
          <a:xfrm>
            <a:off x="5968898" y="2322576"/>
            <a:ext cx="249417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对齐</a:t>
            </a:r>
            <a:endParaRPr lang="zh-CN" altLang="en-US" sz="16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23" name="模块说明"/>
          <p:cNvSpPr txBox="1"/>
          <p:nvPr/>
        </p:nvSpPr>
        <p:spPr>
          <a:xfrm>
            <a:off x="5968898" y="2670048"/>
            <a:ext cx="249417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原型构建与跨模态对齐</a:t>
            </a:r>
            <a:endParaRPr lang="zh-CN" altLang="en-US" sz="11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24" name="子模块"/>
          <p:cNvSpPr/>
          <p:nvPr/>
        </p:nvSpPr>
        <p:spPr>
          <a:xfrm>
            <a:off x="6133490" y="3017520"/>
            <a:ext cx="2164994" cy="420624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9525" cap="rnd">
            <a:solidFill>
              <a:srgbClr val="D3C7B1"/>
            </a:solidFill>
            <a:round/>
          </a:ln>
        </p:spPr>
        <p:txBody>
          <a:bodyPr wrap="square" lIns="36576" tIns="0" rIns="36576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视觉原型（每类均值）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25" name="子模块"/>
          <p:cNvSpPr/>
          <p:nvPr/>
        </p:nvSpPr>
        <p:spPr>
          <a:xfrm>
            <a:off x="6133490" y="3566160"/>
            <a:ext cx="2164994" cy="420624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9525" cap="rnd">
            <a:solidFill>
              <a:srgbClr val="D3C7B1"/>
            </a:solidFill>
            <a:round/>
          </a:ln>
        </p:spPr>
        <p:txBody>
          <a:bodyPr wrap="square" lIns="36576" tIns="0" rIns="36576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文本原型（类别描述）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26" name="子模块"/>
          <p:cNvSpPr/>
          <p:nvPr/>
        </p:nvSpPr>
        <p:spPr>
          <a:xfrm>
            <a:off x="6133490" y="4114800"/>
            <a:ext cx="2164994" cy="420624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9525" cap="rnd">
            <a:solidFill>
              <a:srgbClr val="D3C7B1"/>
            </a:solidFill>
            <a:round/>
          </a:ln>
        </p:spPr>
        <p:txBody>
          <a:bodyPr wrap="square" lIns="36576" tIns="0" rIns="36576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双向对比对齐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27" name="模块"/>
          <p:cNvSpPr/>
          <p:nvPr/>
        </p:nvSpPr>
        <p:spPr>
          <a:xfrm>
            <a:off x="8920277" y="2011680"/>
            <a:ext cx="2494178" cy="2743200"/>
          </a:xfrm>
          <a:prstGeom prst="roundRect">
            <a:avLst>
              <a:gd name="adj" fmla="val 3000"/>
            </a:avLst>
          </a:prstGeom>
          <a:solidFill>
            <a:srgbClr val="EFE8DB"/>
          </a:solidFill>
          <a:ln w="9525" cap="rnd">
            <a:solidFill>
              <a:srgbClr val="D6CAB4"/>
            </a:solidFill>
            <a:round/>
          </a:ln>
        </p:spPr>
      </p:sp>
      <p:sp>
        <p:nvSpPr>
          <p:cNvPr id="28" name="序号圈"/>
          <p:cNvSpPr/>
          <p:nvPr/>
        </p:nvSpPr>
        <p:spPr>
          <a:xfrm>
            <a:off x="9957054" y="1801368"/>
            <a:ext cx="420624" cy="420624"/>
          </a:xfrm>
          <a:prstGeom prst="ellipse">
            <a:avLst/>
          </a:prstGeom>
          <a:solidFill>
            <a:srgbClr val="F7F3EA"/>
          </a:solidFill>
          <a:ln w="9525" cap="rnd">
            <a:solidFill>
              <a:srgbClr val="3E3830"/>
            </a:solidFill>
            <a:round/>
          </a:ln>
        </p:spPr>
      </p:sp>
      <p:sp>
        <p:nvSpPr>
          <p:cNvPr id="29" name="序号"/>
          <p:cNvSpPr txBox="1"/>
          <p:nvPr/>
        </p:nvSpPr>
        <p:spPr>
          <a:xfrm>
            <a:off x="9957054" y="18013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2B2620"/>
                </a:solidFill>
                <a:latin typeface="Goudy Old Style"/>
                <a:ea typeface="Noto Serif SC"/>
                <a:cs typeface="Goudy Old Style"/>
              </a:rPr>
              <a:t>III</a:t>
            </a:r>
            <a:endParaRPr lang="zh-CN" altLang="en-US" sz="1400" b="0" i="0" dirty="0">
              <a:solidFill>
                <a:srgbClr val="2B2620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30" name="模块名"/>
          <p:cNvSpPr txBox="1"/>
          <p:nvPr/>
        </p:nvSpPr>
        <p:spPr>
          <a:xfrm>
            <a:off x="8920277" y="2322576"/>
            <a:ext cx="249417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推理</a:t>
            </a:r>
            <a:endParaRPr lang="zh-CN" altLang="en-US" sz="16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31" name="模块说明"/>
          <p:cNvSpPr txBox="1"/>
          <p:nvPr/>
        </p:nvSpPr>
        <p:spPr>
          <a:xfrm>
            <a:off x="8920277" y="2670048"/>
            <a:ext cx="249417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最近原型分类</a:t>
            </a:r>
            <a:endParaRPr lang="zh-CN" altLang="en-US" sz="11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32" name="子模块"/>
          <p:cNvSpPr/>
          <p:nvPr/>
        </p:nvSpPr>
        <p:spPr>
          <a:xfrm>
            <a:off x="9084869" y="3017520"/>
            <a:ext cx="2164994" cy="420624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9525" cap="rnd">
            <a:solidFill>
              <a:srgbClr val="D3C7B1"/>
            </a:solidFill>
            <a:round/>
          </a:ln>
        </p:spPr>
        <p:txBody>
          <a:bodyPr wrap="square" lIns="36576" tIns="0" rIns="36576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余弦相似度 ÷ 温度 τ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33" name="子模块"/>
          <p:cNvSpPr/>
          <p:nvPr/>
        </p:nvSpPr>
        <p:spPr>
          <a:xfrm>
            <a:off x="9084869" y="3566160"/>
            <a:ext cx="2164994" cy="420624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9525" cap="rnd">
            <a:solidFill>
              <a:srgbClr val="D3C7B1"/>
            </a:solidFill>
            <a:round/>
          </a:ln>
        </p:spPr>
        <p:txBody>
          <a:bodyPr wrap="square" lIns="36576" tIns="0" rIns="36576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Softmax 输出类别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34" name="子模块"/>
          <p:cNvSpPr/>
          <p:nvPr/>
        </p:nvSpPr>
        <p:spPr>
          <a:xfrm>
            <a:off x="9084869" y="4114800"/>
            <a:ext cx="2164994" cy="420624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9525" cap="rnd">
            <a:solidFill>
              <a:srgbClr val="D3C7B1"/>
            </a:solidFill>
            <a:round/>
          </a:ln>
        </p:spPr>
        <p:txBody>
          <a:bodyPr wrap="square" lIns="36576" tIns="0" rIns="36576" bIns="0" anchor="ctr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返回最近原型作证据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cxnSp>
        <p:nvCxnSpPr>
          <p:cNvPr id="35" name="箭头"/>
          <p:cNvCxnSpPr/>
          <p:nvPr/>
        </p:nvCxnSpPr>
        <p:spPr>
          <a:xfrm>
            <a:off x="2633472" y="3383280"/>
            <a:ext cx="310896" cy="0"/>
          </a:xfrm>
          <a:prstGeom prst="line">
            <a:avLst/>
          </a:prstGeom>
          <a:ln w="12700" cap="rnd">
            <a:solidFill>
              <a:srgbClr val="2B2620"/>
            </a:solidFill>
            <a:round/>
            <a:tailEnd type="triangle" w="sm" len="sm"/>
          </a:ln>
        </p:spPr>
      </p:cxnSp>
      <p:cxnSp>
        <p:nvCxnSpPr>
          <p:cNvPr id="36" name="箭头"/>
          <p:cNvCxnSpPr/>
          <p:nvPr/>
        </p:nvCxnSpPr>
        <p:spPr>
          <a:xfrm>
            <a:off x="5584850" y="3383280"/>
            <a:ext cx="310896" cy="0"/>
          </a:xfrm>
          <a:prstGeom prst="line">
            <a:avLst/>
          </a:prstGeom>
          <a:ln w="12700" cap="rnd">
            <a:solidFill>
              <a:srgbClr val="2B2620"/>
            </a:solidFill>
            <a:round/>
            <a:tailEnd type="triangle" w="sm" len="sm"/>
          </a:ln>
        </p:spPr>
      </p:cxnSp>
      <p:cxnSp>
        <p:nvCxnSpPr>
          <p:cNvPr id="37" name="箭头"/>
          <p:cNvCxnSpPr/>
          <p:nvPr/>
        </p:nvCxnSpPr>
        <p:spPr>
          <a:xfrm>
            <a:off x="8536229" y="3383280"/>
            <a:ext cx="310896" cy="0"/>
          </a:xfrm>
          <a:prstGeom prst="line">
            <a:avLst/>
          </a:prstGeom>
          <a:ln w="12700" cap="rnd">
            <a:solidFill>
              <a:srgbClr val="2B2620"/>
            </a:solidFill>
            <a:round/>
            <a:tailEnd type="triangle" w="sm" len="sm"/>
          </a:ln>
        </p:spPr>
      </p:cxnSp>
      <p:cxnSp>
        <p:nvCxnSpPr>
          <p:cNvPr id="38" name="括注线"/>
          <p:cNvCxnSpPr/>
          <p:nvPr/>
        </p:nvCxnSpPr>
        <p:spPr>
          <a:xfrm>
            <a:off x="5968898" y="5047488"/>
            <a:ext cx="5445557" cy="0"/>
          </a:xfrm>
          <a:prstGeom prst="line">
            <a:avLst/>
          </a:prstGeom>
          <a:ln w="12700" cap="rnd">
            <a:solidFill>
              <a:srgbClr val="B39363"/>
            </a:solidFill>
            <a:prstDash val="dash"/>
            <a:round/>
          </a:ln>
        </p:spPr>
      </p:cxnSp>
      <p:cxnSp>
        <p:nvCxnSpPr>
          <p:cNvPr id="39" name="括注线"/>
          <p:cNvCxnSpPr/>
          <p:nvPr/>
        </p:nvCxnSpPr>
        <p:spPr>
          <a:xfrm>
            <a:off x="5968898" y="4937760"/>
            <a:ext cx="0" cy="109728"/>
          </a:xfrm>
          <a:prstGeom prst="line">
            <a:avLst/>
          </a:prstGeom>
          <a:ln w="12700" cap="rnd">
            <a:solidFill>
              <a:srgbClr val="B39363"/>
            </a:solidFill>
            <a:round/>
          </a:ln>
        </p:spPr>
      </p:cxnSp>
      <p:cxnSp>
        <p:nvCxnSpPr>
          <p:cNvPr id="40" name="括注线"/>
          <p:cNvCxnSpPr/>
          <p:nvPr/>
        </p:nvCxnSpPr>
        <p:spPr>
          <a:xfrm>
            <a:off x="11414455" y="4937760"/>
            <a:ext cx="0" cy="109728"/>
          </a:xfrm>
          <a:prstGeom prst="line">
            <a:avLst/>
          </a:prstGeom>
          <a:ln w="12700" cap="rnd">
            <a:solidFill>
              <a:srgbClr val="B39363"/>
            </a:solidFill>
            <a:round/>
          </a:ln>
        </p:spPr>
      </p:cxnSp>
      <p:sp>
        <p:nvSpPr>
          <p:cNvPr id="41" name="括注"/>
          <p:cNvSpPr txBox="1"/>
          <p:nvPr/>
        </p:nvSpPr>
        <p:spPr>
          <a:xfrm>
            <a:off x="5968898" y="5157216"/>
            <a:ext cx="5445557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 spc="-54">
                <a:solidFill>
                  <a:srgbClr val="766C5F"/>
                </a:solidFill>
                <a:latin typeface="Garamond"/>
                <a:ea typeface="华文楷体"/>
                <a:cs typeface="Garamond"/>
              </a:rPr>
              <a:t>训练阶段联合优化：分类损失 + λ · 对齐损失</a:t>
            </a:r>
            <a:endParaRPr lang="zh-CN" altLang="en-US" sz="1350" b="0" i="0" dirty="0" spc="-54">
              <a:solidFill>
                <a:srgbClr val="766C5F"/>
              </a:solidFill>
              <a:latin typeface="Garamond"/>
              <a:ea typeface="华文楷体"/>
              <a:cs typeface="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Part II：方法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标题"/>
          <p:cNvSpPr txBox="1"/>
          <p:nvPr/>
        </p:nvSpPr>
        <p:spPr>
          <a:xfrm>
            <a:off x="777240" y="804672"/>
            <a:ext cx="990569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以温度缩放的原型损失对齐两种模态</a:t>
            </a:r>
            <a:endParaRPr lang="zh-CN" altLang="en-US" sz="28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4" name="参考文献"/>
          <p:cNvSpPr txBox="1"/>
          <p:nvPr/>
        </p:nvSpPr>
        <p:spPr>
          <a:xfrm>
            <a:off x="777240" y="6300216"/>
            <a:ext cx="935705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[2] Snell et al., NeurIPS 2017</a:t>
            </a:r>
            <a:endParaRPr lang="zh-CN" altLang="en-US" sz="9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5" name="公式底板"/>
          <p:cNvSpPr/>
          <p:nvPr/>
        </p:nvSpPr>
        <p:spPr>
          <a:xfrm>
            <a:off x="1234440" y="1737360"/>
            <a:ext cx="9722815" cy="1874520"/>
          </a:xfrm>
          <a:prstGeom prst="roundRect">
            <a:avLst>
              <a:gd name="adj" fmla="val 3000"/>
            </a:avLst>
          </a:prstGeom>
          <a:solidFill>
            <a:srgbClr val="EFE8DB"/>
          </a:solidFill>
          <a:ln w="9525" cap="rnd">
            <a:solidFill>
              <a:srgbClr val="D6CAB4"/>
            </a:solidFill>
            <a:round/>
          </a:ln>
        </p:spPr>
      </p:sp>
      <p:pic>
        <p:nvPicPr>
          <p:cNvPr id="6" name="公式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0330" y="2176693"/>
            <a:ext cx="5711035" cy="995855"/>
          </a:xfrm>
          <a:prstGeom prst="rect">
            <a:avLst/>
          </a:prstGeom>
        </p:spPr>
      </p:pic>
      <p:sp>
        <p:nvSpPr>
          <p:cNvPr id="7" name="公式编号"/>
          <p:cNvSpPr txBox="1"/>
          <p:nvPr/>
        </p:nvSpPr>
        <p:spPr>
          <a:xfrm>
            <a:off x="10042855" y="2491740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i="0" dirty="0">
                <a:solidFill>
                  <a:srgbClr val="766C5F"/>
                </a:solidFill>
                <a:latin typeface="Goudy Old Style"/>
                <a:ea typeface="Noto Serif SC"/>
                <a:cs typeface="Goudy Old Style"/>
              </a:rPr>
              <a:t>(1)</a:t>
            </a:r>
            <a:endParaRPr lang="zh-CN" altLang="en-US" sz="1500" b="0" i="0" dirty="0">
              <a:solidFill>
                <a:srgbClr val="766C5F"/>
              </a:solidFill>
              <a:latin typeface="Goudy Old Style"/>
              <a:ea typeface="Noto Serif SC"/>
              <a:cs typeface="Goudy Old Style"/>
            </a:endParaRPr>
          </a:p>
        </p:txBody>
      </p:sp>
      <p:pic>
        <p:nvPicPr>
          <p:cNvPr id="8" name="符号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32077" y="4095172"/>
            <a:ext cx="176326" cy="167273"/>
          </a:xfrm>
          <a:prstGeom prst="rect">
            <a:avLst/>
          </a:prstGeom>
        </p:spPr>
      </p:pic>
      <p:sp>
        <p:nvSpPr>
          <p:cNvPr id="9" name="符号说明"/>
          <p:cNvSpPr txBox="1"/>
          <p:nvPr/>
        </p:nvSpPr>
        <p:spPr>
          <a:xfrm>
            <a:off x="2514600" y="3995928"/>
            <a:ext cx="3581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第 k 类原型，即支持集特征的均值</a:t>
            </a:r>
            <a:endParaRPr lang="zh-CN" altLang="en-US" sz="14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10" name="符号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8692" y="4056331"/>
            <a:ext cx="365912" cy="244953"/>
          </a:xfrm>
          <a:prstGeom prst="rect">
            <a:avLst/>
          </a:prstGeom>
        </p:spPr>
      </p:pic>
      <p:sp>
        <p:nvSpPr>
          <p:cNvPr id="11" name="符号说明"/>
          <p:cNvSpPr txBox="1"/>
          <p:nvPr/>
        </p:nvSpPr>
        <p:spPr>
          <a:xfrm>
            <a:off x="7376008" y="3995928"/>
            <a:ext cx="3581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共享的视觉–语言编码器，输出已归一化</a:t>
            </a:r>
            <a:endParaRPr lang="zh-CN" altLang="en-US" sz="14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12" name="符号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0487" y="4737542"/>
            <a:ext cx="359505" cy="235844"/>
          </a:xfrm>
          <a:prstGeom prst="rect">
            <a:avLst/>
          </a:prstGeom>
        </p:spPr>
      </p:pic>
      <p:sp>
        <p:nvSpPr>
          <p:cNvPr id="13" name="符号说明"/>
          <p:cNvSpPr txBox="1"/>
          <p:nvPr/>
        </p:nvSpPr>
        <p:spPr>
          <a:xfrm>
            <a:off x="2514600" y="4672584"/>
            <a:ext cx="3581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余弦相似度</a:t>
            </a:r>
            <a:endParaRPr lang="zh-CN" altLang="en-US" sz="14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14" name="符号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30278" y="4799666"/>
            <a:ext cx="102739" cy="111596"/>
          </a:xfrm>
          <a:prstGeom prst="rect">
            <a:avLst/>
          </a:prstGeom>
        </p:spPr>
      </p:pic>
      <p:sp>
        <p:nvSpPr>
          <p:cNvPr id="15" name="符号说明"/>
          <p:cNvSpPr txBox="1"/>
          <p:nvPr/>
        </p:nvSpPr>
        <p:spPr>
          <a:xfrm>
            <a:off x="7376008" y="4672584"/>
            <a:ext cx="3581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温度系数，越小分布越尖锐</a:t>
            </a:r>
            <a:endParaRPr lang="zh-CN" altLang="en-US" sz="14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6" name="注释"/>
          <p:cNvSpPr txBox="1"/>
          <p:nvPr/>
        </p:nvSpPr>
        <p:spPr>
          <a:xfrm>
            <a:off x="777240" y="5532120"/>
            <a:ext cx="1063721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A8533A"/>
                </a:solidFill>
                <a:latin typeface="Noto Serif SC Medium"/>
                <a:ea typeface="Noto Serif SC Medium"/>
                <a:cs typeface="Noto Serif SC Medium"/>
              </a:rPr>
              <a:t>注　</a:t>
            </a:r>
            <a:r>
              <a:rPr lang="zh-CN" altLang="en-US" sz="1350" b="0" i="0" dirty="0" spc="-54">
                <a:solidFill>
                  <a:srgbClr val="766C5F"/>
                </a:solidFill>
                <a:latin typeface="Garamond"/>
                <a:ea typeface="华文楷体"/>
                <a:cs typeface="Garamond"/>
              </a:rPr>
              <a:t>τ 取 0.1 时训练最稳定；推导与收敛性分析见附录 A。</a:t>
            </a:r>
            <a:endParaRPr lang="zh-CN" altLang="en-US" sz="1350" b="0" i="0" dirty="0" spc="-54">
              <a:solidFill>
                <a:srgbClr val="766C5F"/>
              </a:solidFill>
              <a:latin typeface="Garamond"/>
              <a:ea typeface="华文楷体"/>
              <a:cs typeface="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Part II：方法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标题"/>
          <p:cNvSpPr txBox="1"/>
          <p:nvPr/>
        </p:nvSpPr>
        <p:spPr>
          <a:xfrm>
            <a:off x="777240" y="804672"/>
            <a:ext cx="990569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一个 episode 内同时更新两种原型</a:t>
            </a:r>
            <a:endParaRPr lang="zh-CN" altLang="en-US" sz="28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cxnSp>
        <p:nvCxnSpPr>
          <p:cNvPr id="4" name="算法顶线"/>
          <p:cNvCxnSpPr/>
          <p:nvPr/>
        </p:nvCxnSpPr>
        <p:spPr>
          <a:xfrm>
            <a:off x="777240" y="1737360"/>
            <a:ext cx="6492240" cy="0"/>
          </a:xfrm>
          <a:prstGeom prst="line">
            <a:avLst/>
          </a:prstGeom>
          <a:ln w="15875" cap="rnd">
            <a:solidFill>
              <a:srgbClr val="2B2620"/>
            </a:solidFill>
            <a:round/>
          </a:ln>
        </p:spPr>
      </p:cxnSp>
      <p:sp>
        <p:nvSpPr>
          <p:cNvPr id="5" name="算法标题"/>
          <p:cNvSpPr txBox="1"/>
          <p:nvPr/>
        </p:nvSpPr>
        <p:spPr>
          <a:xfrm>
            <a:off x="822960" y="1828800"/>
            <a:ext cx="64922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A8533A"/>
                </a:solidFill>
                <a:latin typeface="Noto Serif SC SemiBold"/>
                <a:ea typeface="Noto Serif SC SemiBold"/>
                <a:cs typeface="Noto Serif SC SemiBold"/>
              </a:rPr>
              <a:t>算法 1　</a:t>
            </a:r>
            <a:r>
              <a:rPr lang="zh-CN" altLang="en-US" sz="14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原型对齐训练</a:t>
            </a:r>
            <a:endParaRPr lang="zh-CN" altLang="en-US" sz="14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cxnSp>
        <p:nvCxnSpPr>
          <p:cNvPr id="6" name="算法分隔线"/>
          <p:cNvCxnSpPr/>
          <p:nvPr/>
        </p:nvCxnSpPr>
        <p:spPr>
          <a:xfrm>
            <a:off x="777240" y="2249424"/>
            <a:ext cx="6492240" cy="0"/>
          </a:xfrm>
          <a:prstGeom prst="line">
            <a:avLst/>
          </a:prstGeom>
          <a:ln w="7620" cap="rnd">
            <a:solidFill>
              <a:srgbClr val="2B2620"/>
            </a:solidFill>
            <a:round/>
          </a:ln>
        </p:spPr>
      </p:cxnSp>
      <p:sp>
        <p:nvSpPr>
          <p:cNvPr id="7" name="行号"/>
          <p:cNvSpPr txBox="1"/>
          <p:nvPr/>
        </p:nvSpPr>
        <p:spPr>
          <a:xfrm>
            <a:off x="777240" y="2359152"/>
            <a:ext cx="27432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1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  <a:p>
            <a:pPr algn="r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2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  <a:p>
            <a:pPr algn="r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3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  <a:p>
            <a:pPr algn="r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4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  <a:p>
            <a:pPr algn="r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5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  <a:p>
            <a:pPr algn="r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6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  <a:p>
            <a:pPr algn="r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7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  <a:p>
            <a:pPr algn="r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8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  <a:p>
            <a:pPr algn="r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9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  <a:p>
            <a:pPr algn="r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10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  <a:p>
            <a:pPr algn="r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11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  <a:p>
            <a:pPr algn="r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A3998A"/>
                </a:solidFill>
                <a:latin typeface="Goudy Old Style"/>
                <a:ea typeface="Noto Serif SC"/>
                <a:cs typeface="Goudy Old Style"/>
              </a:rPr>
              <a:t>12</a:t>
            </a:r>
            <a:endParaRPr lang="zh-CN" altLang="en-US" sz="1200" b="0" i="0" dirty="0">
              <a:solidFill>
                <a:srgbClr val="A3998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8" name="伪代码"/>
          <p:cNvSpPr txBox="1"/>
          <p:nvPr/>
        </p:nvSpPr>
        <p:spPr>
          <a:xfrm>
            <a:off x="1234440" y="2359152"/>
            <a:ext cx="598932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输入</a:t>
            </a: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：支持集 S，查询集 Q，温度 τ，权重 λ</a:t>
            </a:r>
            <a:endParaRPr lang="zh-CN" altLang="en-US" sz="13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for</a:t>
            </a: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 </a:t>
            </a:r>
            <a:r>
              <a:rPr lang="zh-CN" altLang="en-US" sz="13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each</a:t>
            </a: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 episode </a:t>
            </a:r>
            <a:r>
              <a:rPr lang="zh-CN" altLang="en-US" sz="13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do</a:t>
            </a:r>
            <a:endParaRPr lang="zh-CN" altLang="en-US" sz="13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  <a:p>
            <a:pPr algn="l" eaLnBrk="1" latinLnBrk="0" hangingPunct="1" marL="292608" indent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c_k ← mean{ f(x_i) : y_i = k }  </a:t>
            </a:r>
            <a:r>
              <a:rPr lang="zh-CN" altLang="en-US" sz="1250" b="0" i="0" dirty="0" spc="-50">
                <a:solidFill>
                  <a:srgbClr val="A8533A"/>
                </a:solidFill>
                <a:latin typeface="Garamond"/>
                <a:ea typeface="华文楷体"/>
                <a:cs typeface="Garamond"/>
              </a:rPr>
              <a:t>▷ 视觉原型</a:t>
            </a:r>
            <a:endParaRPr lang="zh-CN" altLang="en-US" sz="1250" b="0" i="0" dirty="0" spc="-50">
              <a:solidFill>
                <a:srgbClr val="A8533A"/>
              </a:solidFill>
              <a:latin typeface="Garamond"/>
              <a:ea typeface="华文楷体"/>
              <a:cs typeface="Garamond"/>
            </a:endParaRPr>
          </a:p>
          <a:p>
            <a:pPr algn="l" eaLnBrk="1" latinLnBrk="0" hangingPunct="1" marL="292608" indent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t_k ← g(类别描述 k)  </a:t>
            </a:r>
            <a:r>
              <a:rPr lang="zh-CN" altLang="en-US" sz="1250" b="0" i="0" dirty="0" spc="-50">
                <a:solidFill>
                  <a:srgbClr val="A8533A"/>
                </a:solidFill>
                <a:latin typeface="Garamond"/>
                <a:ea typeface="华文楷体"/>
                <a:cs typeface="Garamond"/>
              </a:rPr>
              <a:t>▷ 文本原型</a:t>
            </a:r>
            <a:endParaRPr lang="zh-CN" altLang="en-US" sz="1250" b="0" i="0" dirty="0" spc="-50">
              <a:solidFill>
                <a:srgbClr val="A8533A"/>
              </a:solidFill>
              <a:latin typeface="Garamond"/>
              <a:ea typeface="华文楷体"/>
              <a:cs typeface="Garamond"/>
            </a:endParaRPr>
          </a:p>
          <a:p>
            <a:pPr algn="l" eaLnBrk="1" latinLnBrk="0" hangingPunct="1" marL="292608" indent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L_align ← 对比损失(c_k, t_k)</a:t>
            </a:r>
            <a:endParaRPr lang="zh-CN" altLang="en-US" sz="13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 marL="292608" indent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for</a:t>
            </a: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 </a:t>
            </a:r>
            <a:r>
              <a:rPr lang="zh-CN" altLang="en-US" sz="13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each</a:t>
            </a: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 (x, y) </a:t>
            </a:r>
            <a:r>
              <a:rPr lang="zh-CN" altLang="en-US" sz="13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in</a:t>
            </a: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 Q </a:t>
            </a:r>
            <a:r>
              <a:rPr lang="zh-CN" altLang="en-US" sz="13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do</a:t>
            </a:r>
            <a:endParaRPr lang="zh-CN" altLang="en-US" sz="13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  <a:p>
            <a:pPr algn="l" eaLnBrk="1" latinLnBrk="0" hangingPunct="1" marL="585216" indent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p ← softmax(cos(f(x), c_k) / τ)</a:t>
            </a:r>
            <a:endParaRPr lang="zh-CN" altLang="en-US" sz="13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 marL="585216" indent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L_cls ← L_cls − log p_y</a:t>
            </a:r>
            <a:endParaRPr lang="zh-CN" altLang="en-US" sz="13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 marL="292608" indent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end</a:t>
            </a: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 </a:t>
            </a:r>
            <a:r>
              <a:rPr lang="zh-CN" altLang="en-US" sz="13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for</a:t>
            </a:r>
            <a:endParaRPr lang="zh-CN" altLang="en-US" sz="13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  <a:p>
            <a:pPr algn="l" eaLnBrk="1" latinLnBrk="0" hangingPunct="1" marL="292608" indent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θ ← θ − η · ∇(L_cls + λ · L_align)</a:t>
            </a:r>
            <a:endParaRPr lang="zh-CN" altLang="en-US" sz="13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end</a:t>
            </a: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 </a:t>
            </a:r>
            <a:r>
              <a:rPr lang="zh-CN" altLang="en-US" sz="13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for</a:t>
            </a:r>
            <a:endParaRPr lang="zh-CN" altLang="en-US" sz="13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  <a:p>
            <a:pPr algn="l" eaLnBrk="1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输出</a:t>
            </a: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：投影层参数 θ</a:t>
            </a:r>
            <a:endParaRPr lang="zh-CN" altLang="en-US" sz="13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cxnSp>
        <p:nvCxnSpPr>
          <p:cNvPr id="9" name="算法底线"/>
          <p:cNvCxnSpPr/>
          <p:nvPr/>
        </p:nvCxnSpPr>
        <p:spPr>
          <a:xfrm>
            <a:off x="777240" y="5724144"/>
            <a:ext cx="6492240" cy="0"/>
          </a:xfrm>
          <a:prstGeom prst="line">
            <a:avLst/>
          </a:prstGeom>
          <a:ln w="15875" cap="rnd">
            <a:solidFill>
              <a:srgbClr val="2B2620"/>
            </a:solidFill>
            <a:round/>
          </a:ln>
        </p:spPr>
      </p:cxnSp>
      <p:sp>
        <p:nvSpPr>
          <p:cNvPr id="10" name="行号说明"/>
          <p:cNvSpPr txBox="1"/>
          <p:nvPr/>
        </p:nvSpPr>
        <p:spPr>
          <a:xfrm>
            <a:off x="7818120" y="1801368"/>
            <a:ext cx="359633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A8533A"/>
                </a:solidFill>
                <a:latin typeface="Noto Serif SC Medium"/>
                <a:ea typeface="Noto Serif SC Medium"/>
                <a:cs typeface="Noto Serif SC Medium"/>
              </a:rPr>
              <a:t>第 3–4 行</a:t>
            </a:r>
            <a:endParaRPr lang="zh-CN" altLang="en-US" sz="1300" b="0" i="0" dirty="0">
              <a:solidFill>
                <a:srgbClr val="A8533A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1" name="说明"/>
          <p:cNvSpPr txBox="1"/>
          <p:nvPr/>
        </p:nvSpPr>
        <p:spPr>
          <a:xfrm>
            <a:off x="7818120" y="2167128"/>
            <a:ext cx="359633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同一批支持样本同时产生视觉原型与</a:t>
            </a:r>
            <a:b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</a:br>
            <a: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文本原型。</a:t>
            </a:r>
            <a:endParaRPr lang="zh-CN" altLang="en-US" sz="13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cxnSp>
        <p:nvCxnSpPr>
          <p:cNvPr id="12" name="分隔线"/>
          <p:cNvCxnSpPr/>
          <p:nvPr/>
        </p:nvCxnSpPr>
        <p:spPr>
          <a:xfrm>
            <a:off x="7818120" y="2971800"/>
            <a:ext cx="3596335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13" name="行号说明"/>
          <p:cNvSpPr txBox="1"/>
          <p:nvPr/>
        </p:nvSpPr>
        <p:spPr>
          <a:xfrm>
            <a:off x="7818120" y="3136392"/>
            <a:ext cx="359633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A8533A"/>
                </a:solidFill>
                <a:latin typeface="Noto Serif SC Medium"/>
                <a:ea typeface="Noto Serif SC Medium"/>
                <a:cs typeface="Noto Serif SC Medium"/>
              </a:rPr>
              <a:t>第 5 行</a:t>
            </a:r>
            <a:endParaRPr lang="zh-CN" altLang="en-US" sz="1300" b="0" i="0" dirty="0">
              <a:solidFill>
                <a:srgbClr val="A8533A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4" name="说明"/>
          <p:cNvSpPr txBox="1"/>
          <p:nvPr/>
        </p:nvSpPr>
        <p:spPr>
          <a:xfrm>
            <a:off x="7818120" y="3502152"/>
            <a:ext cx="359633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对齐损失只在原型层面计算，</a:t>
            </a:r>
            <a:b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</a:br>
            <a: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开销与类别数成正比。</a:t>
            </a:r>
            <a:endParaRPr lang="zh-CN" altLang="en-US" sz="13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cxnSp>
        <p:nvCxnSpPr>
          <p:cNvPr id="15" name="分隔线"/>
          <p:cNvCxnSpPr/>
          <p:nvPr/>
        </p:nvCxnSpPr>
        <p:spPr>
          <a:xfrm>
            <a:off x="7818120" y="4306824"/>
            <a:ext cx="3596335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16" name="行号说明"/>
          <p:cNvSpPr txBox="1"/>
          <p:nvPr/>
        </p:nvSpPr>
        <p:spPr>
          <a:xfrm>
            <a:off x="7818120" y="4471416"/>
            <a:ext cx="359633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A8533A"/>
                </a:solidFill>
                <a:latin typeface="Noto Serif SC Medium"/>
                <a:ea typeface="Noto Serif SC Medium"/>
                <a:cs typeface="Noto Serif SC Medium"/>
              </a:rPr>
              <a:t>第 10 行</a:t>
            </a:r>
            <a:endParaRPr lang="zh-CN" altLang="en-US" sz="1300" b="0" i="0" dirty="0">
              <a:solidFill>
                <a:srgbClr val="A8533A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7" name="说明"/>
          <p:cNvSpPr txBox="1"/>
          <p:nvPr/>
        </p:nvSpPr>
        <p:spPr>
          <a:xfrm>
            <a:off x="7818120" y="4837176"/>
            <a:ext cx="359633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λ 取 0.5；主干冻结，只更新投影层。</a:t>
            </a:r>
            <a:endParaRPr lang="zh-CN" altLang="en-US" sz="13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Part III：实验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标题"/>
          <p:cNvSpPr txBox="1"/>
          <p:nvPr/>
        </p:nvSpPr>
        <p:spPr>
          <a:xfrm>
            <a:off x="777240" y="804672"/>
            <a:ext cx="990569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原型对齐让同类样本在特征空间中更紧凑</a:t>
            </a:r>
            <a:endParaRPr lang="zh-CN" altLang="en-US" sz="28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4" name="参考文献"/>
          <p:cNvSpPr txBox="1"/>
          <p:nvPr/>
        </p:nvSpPr>
        <p:spPr>
          <a:xfrm>
            <a:off x="777240" y="6300216"/>
            <a:ext cx="935705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[2] Snell et al., NeurIPS 2017</a:t>
            </a:r>
            <a:endParaRPr lang="zh-CN" altLang="en-US" sz="9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5" name="图版外框"/>
          <p:cNvSpPr/>
          <p:nvPr/>
        </p:nvSpPr>
        <p:spPr>
          <a:xfrm>
            <a:off x="777240" y="1737360"/>
            <a:ext cx="5760720" cy="3703320"/>
          </a:xfrm>
          <a:prstGeom prst="rect">
            <a:avLst/>
          </a:prstGeom>
          <a:solidFill>
            <a:srgbClr val="FBF8F1"/>
          </a:solidFill>
          <a:ln w="12700" cap="rnd">
            <a:solidFill>
              <a:srgbClr val="B39363"/>
            </a:solidFill>
            <a:round/>
          </a:ln>
        </p:spPr>
      </p:sp>
      <p:sp>
        <p:nvSpPr>
          <p:cNvPr id="6" name="图版内框"/>
          <p:cNvSpPr/>
          <p:nvPr/>
        </p:nvSpPr>
        <p:spPr>
          <a:xfrm>
            <a:off x="841248" y="1801368"/>
            <a:ext cx="5632704" cy="3575304"/>
          </a:xfrm>
          <a:prstGeom prst="rect">
            <a:avLst/>
          </a:prstGeom>
          <a:noFill/>
          <a:ln w="6350" cap="rnd">
            <a:solidFill>
              <a:srgbClr val="B39363"/>
            </a:solidFill>
            <a:round/>
          </a:ln>
        </p:spPr>
      </p:sp>
      <p:pic>
        <p:nvPicPr>
          <p:cNvPr id="7" name="图片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20240"/>
            <a:ext cx="5394960" cy="3337560"/>
          </a:xfrm>
          <a:prstGeom prst="rect">
            <a:avLst/>
          </a:prstGeom>
        </p:spPr>
      </p:pic>
      <p:sp>
        <p:nvSpPr>
          <p:cNvPr id="8" name="图注"/>
          <p:cNvSpPr txBox="1"/>
          <p:nvPr/>
        </p:nvSpPr>
        <p:spPr>
          <a:xfrm>
            <a:off x="777240" y="5550408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solidFill>
                  <a:srgbClr val="A8533A"/>
                </a:solidFill>
                <a:latin typeface="Noto Serif SC Medium"/>
                <a:ea typeface="Noto Serif SC Medium"/>
                <a:cs typeface="Noto Serif SC Medium"/>
              </a:rPr>
              <a:t>图 2　</a:t>
            </a:r>
            <a:r>
              <a:rPr lang="zh-CN" altLang="en-US" sz="1250" b="0" i="0" dirty="0" spc="-50">
                <a:solidFill>
                  <a:srgbClr val="766C5F"/>
                </a:solidFill>
                <a:latin typeface="Garamond"/>
                <a:ea typeface="华文楷体"/>
                <a:cs typeface="Garamond"/>
              </a:rPr>
              <a:t>左为 ProtoNet，右为本文；星形为类原型，颜色表示类别。</a:t>
            </a:r>
            <a:endParaRPr lang="zh-CN" altLang="en-US" sz="1250" b="0" i="0" dirty="0" spc="-50">
              <a:solidFill>
                <a:srgbClr val="766C5F"/>
              </a:solidFill>
              <a:latin typeface="Garamond"/>
              <a:ea typeface="华文楷体"/>
              <a:cs typeface="Garamond"/>
            </a:endParaRPr>
          </a:p>
        </p:txBody>
      </p:sp>
      <p:pic>
        <p:nvPicPr>
          <p:cNvPr id="9" name="装饰 · 条目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728" y="1929384"/>
            <a:ext cx="201168" cy="201168"/>
          </a:xfrm>
          <a:prstGeom prst="rect">
            <a:avLst/>
          </a:prstGeom>
        </p:spPr>
      </p:pic>
      <p:sp>
        <p:nvSpPr>
          <p:cNvPr id="10" name="要点"/>
          <p:cNvSpPr txBox="1"/>
          <p:nvPr/>
        </p:nvSpPr>
        <p:spPr>
          <a:xfrm>
            <a:off x="7315200" y="1847088"/>
            <a:ext cx="409925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类内更紧凑</a:t>
            </a:r>
            <a:endParaRPr lang="zh-CN" altLang="en-US" sz="17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1" name="要点说明"/>
          <p:cNvSpPr txBox="1"/>
          <p:nvPr/>
        </p:nvSpPr>
        <p:spPr>
          <a:xfrm>
            <a:off x="7315200" y="2276856"/>
            <a:ext cx="409925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类内平均距离下降 31%，原型落在簇的中心附近。</a:t>
            </a:r>
            <a:endParaRPr lang="zh-CN" altLang="en-US" sz="13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12" name="装饰 · 条目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728" y="3172968"/>
            <a:ext cx="201168" cy="201168"/>
          </a:xfrm>
          <a:prstGeom prst="rect">
            <a:avLst/>
          </a:prstGeom>
        </p:spPr>
      </p:pic>
      <p:sp>
        <p:nvSpPr>
          <p:cNvPr id="13" name="要点"/>
          <p:cNvSpPr txBox="1"/>
          <p:nvPr/>
        </p:nvSpPr>
        <p:spPr>
          <a:xfrm>
            <a:off x="7315200" y="3090672"/>
            <a:ext cx="409925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类间更分离</a:t>
            </a:r>
            <a:endParaRPr lang="zh-CN" altLang="en-US" sz="17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4" name="要点说明"/>
          <p:cNvSpPr txBox="1"/>
          <p:nvPr/>
        </p:nvSpPr>
        <p:spPr>
          <a:xfrm>
            <a:off x="7315200" y="3520440"/>
            <a:ext cx="409925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最近类间距离扩大 1.8 倍，</a:t>
            </a:r>
            <a:b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</a:br>
            <a: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混淆集中于外观相近的类别。</a:t>
            </a:r>
            <a:endParaRPr lang="zh-CN" altLang="en-US" sz="13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15" name="装饰 · 条目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728" y="4416552"/>
            <a:ext cx="201168" cy="201168"/>
          </a:xfrm>
          <a:prstGeom prst="rect">
            <a:avLst/>
          </a:prstGeom>
        </p:spPr>
      </p:pic>
      <p:sp>
        <p:nvSpPr>
          <p:cNvPr id="16" name="要点"/>
          <p:cNvSpPr txBox="1"/>
          <p:nvPr/>
        </p:nvSpPr>
        <p:spPr>
          <a:xfrm>
            <a:off x="7315200" y="4334256"/>
            <a:ext cx="409925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文本锚点稳定</a:t>
            </a:r>
            <a:endParaRPr lang="zh-CN" altLang="en-US" sz="170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7" name="要点说明"/>
          <p:cNvSpPr txBox="1"/>
          <p:nvPr/>
        </p:nvSpPr>
        <p:spPr>
          <a:xfrm>
            <a:off x="7315200" y="4764024"/>
            <a:ext cx="409925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文本原型不随样本数变化，</a:t>
            </a:r>
            <a:b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</a:br>
            <a: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为视觉特征提供固定参照。</a:t>
            </a:r>
            <a:endParaRPr lang="zh-CN" altLang="en-US" sz="13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Part III：实验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标题"/>
          <p:cNvSpPr txBox="1"/>
          <p:nvPr/>
        </p:nvSpPr>
        <p:spPr>
          <a:xfrm>
            <a:off x="777240" y="804672"/>
            <a:ext cx="990569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本文方法在三种设置下均取得最优</a:t>
            </a:r>
            <a:endParaRPr lang="zh-CN" altLang="en-US" sz="28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4" name="参考文献"/>
          <p:cNvSpPr txBox="1"/>
          <p:nvPr/>
        </p:nvSpPr>
        <p:spPr>
          <a:xfrm>
            <a:off x="777240" y="6300216"/>
            <a:ext cx="935705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[1] Vinyals et al., NeurIPS 2016　[2] Snell et al., NeurIPS 2017　[3] Finn et al., ICML 2017　[4] Sung et al., CVPR 2018</a:t>
            </a:r>
            <a:endParaRPr lang="zh-CN" altLang="en-US" sz="9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graphicFrame>
        <p:nvGraphicFramePr>
          <p:cNvPr id="5" name="对比表"/>
          <p:cNvGraphicFramePr>
            <a:graphicFrameLocks noGrp="1"/>
          </p:cNvGraphicFramePr>
          <p:nvPr/>
        </p:nvGraphicFramePr>
        <p:xfrm>
          <a:off x="777240" y="1737360"/>
          <a:ext cx="6858000" cy="2980944"/>
        </p:xfrm>
        <a:graphic>
          <a:graphicData uri="http://schemas.openxmlformats.org/drawingml/2006/table">
            <a:tbl>
              <a:tblPr firstRow="1" bandRow="0"/>
              <a:tblGrid>
                <a:gridCol w="1661522"/>
                <a:gridCol w="1677810"/>
                <a:gridCol w="1172889"/>
                <a:gridCol w="1172889"/>
                <a:gridCol w="1172889"/>
              </a:tblGrid>
              <a:tr h="512064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方法</a:t>
                      </a:r>
                      <a:endParaRPr lang="zh-CN" altLang="en-US" sz="130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来源</a:t>
                      </a:r>
                      <a:endParaRPr lang="zh-CN" altLang="en-US" sz="130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1-shot</a:t>
                      </a:r>
                      <a:endParaRPr lang="zh-CN" altLang="en-US" sz="130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5-shot</a:t>
                      </a:r>
                      <a:endParaRPr lang="zh-CN" altLang="en-US" sz="130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10-shot</a:t>
                      </a:r>
                      <a:endParaRPr lang="zh-CN" altLang="en-US" sz="130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</a:tr>
              <a:tr h="493776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MatchingNet</a:t>
                      </a:r>
                      <a:endParaRPr lang="zh-CN" altLang="en-US" sz="13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766C5F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NeurIPS 2016</a:t>
                      </a:r>
                      <a:endParaRPr lang="zh-CN" altLang="en-US" sz="1350" b="0" i="0" dirty="0">
                        <a:solidFill>
                          <a:srgbClr val="766C5F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43.6</a:t>
                      </a:r>
                      <a:endParaRPr lang="zh-CN" altLang="en-US" sz="13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55.3</a:t>
                      </a:r>
                      <a:endParaRPr lang="zh-CN" altLang="en-US" sz="13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61.2</a:t>
                      </a:r>
                      <a:endParaRPr lang="zh-CN" altLang="en-US" sz="13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93776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ProtoNet</a:t>
                      </a:r>
                      <a:endParaRPr lang="zh-CN" altLang="en-US" sz="13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766C5F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NeurIPS 2017</a:t>
                      </a:r>
                      <a:endParaRPr lang="zh-CN" altLang="en-US" sz="1350" b="0" i="0" dirty="0">
                        <a:solidFill>
                          <a:srgbClr val="766C5F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49.4</a:t>
                      </a:r>
                      <a:endParaRPr lang="zh-CN" altLang="en-US" sz="13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 u="sng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68.2</a:t>
                      </a:r>
                      <a:endParaRPr lang="zh-CN" altLang="en-US" sz="1350" b="0" i="0" dirty="0" u="sng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 u="sng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74.3</a:t>
                      </a:r>
                      <a:endParaRPr lang="zh-CN" altLang="en-US" sz="1350" b="0" i="0" dirty="0" u="sng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93776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MAML</a:t>
                      </a:r>
                      <a:endParaRPr lang="zh-CN" altLang="en-US" sz="13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766C5F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ICML 2017</a:t>
                      </a:r>
                      <a:endParaRPr lang="zh-CN" altLang="en-US" sz="1350" b="0" i="0" dirty="0">
                        <a:solidFill>
                          <a:srgbClr val="766C5F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48.7</a:t>
                      </a:r>
                      <a:endParaRPr lang="zh-CN" altLang="en-US" sz="13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63.1</a:t>
                      </a:r>
                      <a:endParaRPr lang="zh-CN" altLang="en-US" sz="13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70.9</a:t>
                      </a:r>
                      <a:endParaRPr lang="zh-CN" altLang="en-US" sz="13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93776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RelationNet</a:t>
                      </a:r>
                      <a:endParaRPr lang="zh-CN" altLang="en-US" sz="13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766C5F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CVPR 2018</a:t>
                      </a:r>
                      <a:endParaRPr lang="zh-CN" altLang="en-US" sz="1350" b="0" i="0" dirty="0">
                        <a:solidFill>
                          <a:srgbClr val="766C5F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 u="sng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50.4</a:t>
                      </a:r>
                      <a:endParaRPr lang="zh-CN" altLang="en-US" sz="1350" b="0" i="0" dirty="0" u="sng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65.3</a:t>
                      </a:r>
                      <a:endParaRPr lang="zh-CN" altLang="en-US" sz="13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71.8</a:t>
                      </a:r>
                      <a:endParaRPr lang="zh-CN" altLang="en-US" sz="13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93776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本文</a:t>
                      </a:r>
                      <a:endParaRPr lang="zh-CN" altLang="en-US" sz="135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solidFill>
                      <a:srgbClr val="F1E0D4"/>
                    </a:solidFill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766C5F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—</a:t>
                      </a:r>
                      <a:endParaRPr lang="zh-CN" altLang="en-US" sz="1350" b="0" i="0" dirty="0">
                        <a:solidFill>
                          <a:srgbClr val="766C5F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solidFill>
                      <a:srgbClr val="F1E0D4"/>
                    </a:solidFill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A8533A"/>
                          </a:solidFill>
                          <a:latin typeface="Noto Serif SC SemiBold"/>
                          <a:ea typeface="Noto Serif SC SemiBold"/>
                          <a:cs typeface="Noto Serif SC SemiBold"/>
                        </a:rPr>
                        <a:t>56.8</a:t>
                      </a:r>
                      <a:endParaRPr lang="zh-CN" altLang="en-US" sz="1350" b="0" i="0" dirty="0">
                        <a:solidFill>
                          <a:srgbClr val="A8533A"/>
                        </a:solidFill>
                        <a:latin typeface="Noto Serif SC SemiBold"/>
                        <a:ea typeface="Noto Serif SC SemiBold"/>
                        <a:cs typeface="Noto Serif SC SemiBold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solidFill>
                      <a:srgbClr val="F1E0D4"/>
                    </a:solidFill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A8533A"/>
                          </a:solidFill>
                          <a:latin typeface="Noto Serif SC SemiBold"/>
                          <a:ea typeface="Noto Serif SC SemiBold"/>
                          <a:cs typeface="Noto Serif SC SemiBold"/>
                        </a:rPr>
                        <a:t>74.6</a:t>
                      </a:r>
                      <a:endParaRPr lang="zh-CN" altLang="en-US" sz="1350" b="0" i="0" dirty="0">
                        <a:solidFill>
                          <a:srgbClr val="A8533A"/>
                        </a:solidFill>
                        <a:latin typeface="Noto Serif SC SemiBold"/>
                        <a:ea typeface="Noto Serif SC SemiBold"/>
                        <a:cs typeface="Noto Serif SC SemiBold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solidFill>
                      <a:srgbClr val="F1E0D4"/>
                    </a:solidFill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50" b="0" i="0" dirty="0">
                          <a:solidFill>
                            <a:srgbClr val="A8533A"/>
                          </a:solidFill>
                          <a:latin typeface="Noto Serif SC SemiBold"/>
                          <a:ea typeface="Noto Serif SC SemiBold"/>
                          <a:cs typeface="Noto Serif SC SemiBold"/>
                        </a:rPr>
                        <a:t>79.1</a:t>
                      </a:r>
                      <a:endParaRPr lang="zh-CN" altLang="en-US" sz="1350" b="0" i="0" dirty="0">
                        <a:solidFill>
                          <a:srgbClr val="A8533A"/>
                        </a:solidFill>
                        <a:latin typeface="Noto Serif SC SemiBold"/>
                        <a:ea typeface="Noto Serif SC SemiBold"/>
                        <a:cs typeface="Noto Serif SC SemiBold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solidFill>
                      <a:srgbClr val="F1E0D4"/>
                    </a:solidFill>
                  </a:tcPr>
                </a:tc>
              </a:tr>
            </a:tbl>
          </a:graphicData>
        </a:graphic>
      </p:graphicFrame>
      <p:sp>
        <p:nvSpPr>
          <p:cNvPr id="6" name="表注"/>
          <p:cNvSpPr txBox="1"/>
          <p:nvPr/>
        </p:nvSpPr>
        <p:spPr>
          <a:xfrm>
            <a:off x="777240" y="484632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 spc="-50">
                <a:solidFill>
                  <a:srgbClr val="766C5F"/>
                </a:solidFill>
                <a:latin typeface="Garamond"/>
                <a:ea typeface="华文楷体"/>
                <a:cs typeface="Garamond"/>
              </a:rPr>
              <a:t>miniImageNet 5-way 准确率（%）；朱色为最优，下划线为次优。</a:t>
            </a:r>
            <a:endParaRPr lang="zh-CN" altLang="en-US" sz="1250" b="0" i="0" dirty="0" spc="-50">
              <a:solidFill>
                <a:srgbClr val="766C5F"/>
              </a:solidFill>
              <a:latin typeface="Garamond"/>
              <a:ea typeface="华文楷体"/>
              <a:cs typeface="Garamond"/>
            </a:endParaRPr>
          </a:p>
        </p:txBody>
      </p:sp>
      <p:sp>
        <p:nvSpPr>
          <p:cNvPr id="7" name="关键数字"/>
          <p:cNvSpPr txBox="1"/>
          <p:nvPr/>
        </p:nvSpPr>
        <p:spPr>
          <a:xfrm>
            <a:off x="8366760" y="1691640"/>
            <a:ext cx="3047695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60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+7.4</a:t>
            </a:r>
            <a:endParaRPr lang="zh-CN" altLang="en-US" sz="4600" b="0" i="0" dirty="0">
              <a:solidFill>
                <a:srgbClr val="A8533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8" name="数字说明"/>
          <p:cNvSpPr txBox="1"/>
          <p:nvPr/>
        </p:nvSpPr>
        <p:spPr>
          <a:xfrm>
            <a:off x="8366760" y="2478024"/>
            <a:ext cx="3047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1-shot 相对 ProtoNet</a:t>
            </a:r>
            <a:endParaRPr lang="zh-CN" altLang="en-US" sz="12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cxnSp>
        <p:nvCxnSpPr>
          <p:cNvPr id="9" name="分隔线"/>
          <p:cNvCxnSpPr/>
          <p:nvPr/>
        </p:nvCxnSpPr>
        <p:spPr>
          <a:xfrm>
            <a:off x="8366760" y="2807208"/>
            <a:ext cx="3047695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10" name="关键数字"/>
          <p:cNvSpPr txBox="1"/>
          <p:nvPr/>
        </p:nvSpPr>
        <p:spPr>
          <a:xfrm>
            <a:off x="8366760" y="2990088"/>
            <a:ext cx="3047695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60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+4.8</a:t>
            </a:r>
            <a:endParaRPr lang="zh-CN" altLang="en-US" sz="4600" b="0" i="0" dirty="0">
              <a:solidFill>
                <a:srgbClr val="A8533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11" name="数字说明"/>
          <p:cNvSpPr txBox="1"/>
          <p:nvPr/>
        </p:nvSpPr>
        <p:spPr>
          <a:xfrm>
            <a:off x="8366760" y="3776472"/>
            <a:ext cx="3047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10-shot 相对 ProtoNet</a:t>
            </a:r>
            <a:endParaRPr lang="zh-CN" altLang="en-US" sz="12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cxnSp>
        <p:nvCxnSpPr>
          <p:cNvPr id="12" name="分隔线"/>
          <p:cNvCxnSpPr/>
          <p:nvPr/>
        </p:nvCxnSpPr>
        <p:spPr>
          <a:xfrm>
            <a:off x="8366760" y="4105656"/>
            <a:ext cx="3047695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13" name="结论句"/>
          <p:cNvSpPr txBox="1"/>
          <p:nvPr/>
        </p:nvSpPr>
        <p:spPr>
          <a:xfrm>
            <a:off x="8366760" y="4306824"/>
            <a:ext cx="304769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dirty="0" spc="-64">
                <a:solidFill>
                  <a:srgbClr val="2B2620"/>
                </a:solidFill>
                <a:latin typeface="Garamond"/>
                <a:ea typeface="华文楷体"/>
                <a:cs typeface="Garamond"/>
              </a:rPr>
              <a:t>样本越少，优势越明显。</a:t>
            </a:r>
            <a:endParaRPr lang="zh-CN" altLang="en-US" sz="1600" b="0" i="0" dirty="0" spc="-64">
              <a:solidFill>
                <a:srgbClr val="2B2620"/>
              </a:solidFill>
              <a:latin typeface="Garamond"/>
              <a:ea typeface="华文楷体"/>
              <a:cs typeface="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Part III：实验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标题"/>
          <p:cNvSpPr txBox="1"/>
          <p:nvPr/>
        </p:nvSpPr>
        <p:spPr>
          <a:xfrm>
            <a:off x="777240" y="804672"/>
            <a:ext cx="990569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样本越少，本文方法领先越多</a:t>
            </a:r>
            <a:endParaRPr lang="zh-CN" altLang="en-US" sz="28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4" name="参考文献"/>
          <p:cNvSpPr txBox="1"/>
          <p:nvPr/>
        </p:nvSpPr>
        <p:spPr>
          <a:xfrm>
            <a:off x="777240" y="6300216"/>
            <a:ext cx="935705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[2] Snell et al., NeurIPS 2017　[3] Finn et al., ICML 2017</a:t>
            </a:r>
            <a:endParaRPr lang="zh-CN" altLang="en-US" sz="9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graphicFrame>
        <p:nvGraphicFramePr>
          <p:cNvPr id="5" name="折线图"/>
          <p:cNvGraphicFramePr>
            <a:graphicFrameLocks noGrp="1"/>
          </p:cNvGraphicFramePr>
          <p:nvPr/>
        </p:nvGraphicFramePr>
        <p:xfrm>
          <a:off x="704088" y="1645920"/>
          <a:ext cx="6812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序号"/>
          <p:cNvSpPr txBox="1"/>
          <p:nvPr/>
        </p:nvSpPr>
        <p:spPr>
          <a:xfrm>
            <a:off x="8046720" y="176479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I</a:t>
            </a:r>
            <a:endParaRPr lang="zh-CN" altLang="en-US" sz="2000" b="0" i="0" dirty="0">
              <a:solidFill>
                <a:srgbClr val="A8533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7" name="要点"/>
          <p:cNvSpPr txBox="1"/>
          <p:nvPr/>
        </p:nvSpPr>
        <p:spPr>
          <a:xfrm>
            <a:off x="8549640" y="1801368"/>
            <a:ext cx="286481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低样本区差距最大</a:t>
            </a:r>
            <a:endParaRPr lang="zh-CN" altLang="en-US" sz="165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8" name="要点说明"/>
          <p:cNvSpPr txBox="1"/>
          <p:nvPr/>
        </p:nvSpPr>
        <p:spPr>
          <a:xfrm>
            <a:off x="8549640" y="2221992"/>
            <a:ext cx="286481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1-shot 时领先 ProtoNet 7.4 个点，</a:t>
            </a:r>
            <a:br>
              <a:rPr lang="zh-CN" altLang="en-US" sz="130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</a:br>
            <a:r>
              <a:rPr lang="zh-CN" altLang="en-US" sz="130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20-shot 时收窄到 4.0 个点。</a:t>
            </a:r>
            <a:endParaRPr lang="zh-CN" altLang="en-US" sz="130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cxnSp>
        <p:nvCxnSpPr>
          <p:cNvPr id="9" name="分隔线"/>
          <p:cNvCxnSpPr/>
          <p:nvPr/>
        </p:nvCxnSpPr>
        <p:spPr>
          <a:xfrm>
            <a:off x="8549640" y="2962656"/>
            <a:ext cx="2864815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10" name="序号"/>
          <p:cNvSpPr txBox="1"/>
          <p:nvPr/>
        </p:nvSpPr>
        <p:spPr>
          <a:xfrm>
            <a:off x="8046720" y="309067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II</a:t>
            </a:r>
            <a:endParaRPr lang="zh-CN" altLang="en-US" sz="2000" b="0" i="0" dirty="0">
              <a:solidFill>
                <a:srgbClr val="A8533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11" name="要点"/>
          <p:cNvSpPr txBox="1"/>
          <p:nvPr/>
        </p:nvSpPr>
        <p:spPr>
          <a:xfrm>
            <a:off x="8549640" y="3127248"/>
            <a:ext cx="286481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更早进入平台期</a:t>
            </a:r>
            <a:endParaRPr lang="zh-CN" altLang="en-US" sz="165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2" name="要点说明"/>
          <p:cNvSpPr txBox="1"/>
          <p:nvPr/>
        </p:nvSpPr>
        <p:spPr>
          <a:xfrm>
            <a:off x="8549640" y="3547872"/>
            <a:ext cx="286481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5-shot 已接近基线在 10-shot 时</a:t>
            </a:r>
            <a:br>
              <a:rPr lang="zh-CN" altLang="en-US" sz="130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</a:br>
            <a:r>
              <a:rPr lang="zh-CN" altLang="en-US" sz="130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的水平。</a:t>
            </a:r>
            <a:endParaRPr lang="zh-CN" altLang="en-US" sz="130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cxnSp>
        <p:nvCxnSpPr>
          <p:cNvPr id="13" name="分隔线"/>
          <p:cNvCxnSpPr/>
          <p:nvPr/>
        </p:nvCxnSpPr>
        <p:spPr>
          <a:xfrm>
            <a:off x="8549640" y="4288536"/>
            <a:ext cx="2864815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14" name="序号"/>
          <p:cNvSpPr txBox="1"/>
          <p:nvPr/>
        </p:nvSpPr>
        <p:spPr>
          <a:xfrm>
            <a:off x="8046720" y="441655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III</a:t>
            </a:r>
            <a:endParaRPr lang="zh-CN" altLang="en-US" sz="2000" b="0" i="0" dirty="0">
              <a:solidFill>
                <a:srgbClr val="A8533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15" name="要点"/>
          <p:cNvSpPr txBox="1"/>
          <p:nvPr/>
        </p:nvSpPr>
        <p:spPr>
          <a:xfrm>
            <a:off x="8549640" y="4453128"/>
            <a:ext cx="286481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增益来自文本原型</a:t>
            </a:r>
            <a:endParaRPr lang="zh-CN" altLang="en-US" sz="165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6" name="要点说明"/>
          <p:cNvSpPr txBox="1"/>
          <p:nvPr/>
        </p:nvSpPr>
        <p:spPr>
          <a:xfrm>
            <a:off x="8549640" y="4873752"/>
            <a:ext cx="286481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去掉文本原型后，</a:t>
            </a:r>
            <a:br>
              <a:rPr lang="zh-CN" altLang="en-US" sz="130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</a:br>
            <a:r>
              <a:rPr lang="zh-CN" altLang="en-US" sz="130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1-shot 准确率回落 5.1 个点。</a:t>
            </a:r>
            <a:endParaRPr lang="zh-CN" altLang="en-US" sz="130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Part III：实验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标题"/>
          <p:cNvSpPr txBox="1"/>
          <p:nvPr/>
        </p:nvSpPr>
        <p:spPr>
          <a:xfrm>
            <a:off x="777240" y="804672"/>
            <a:ext cx="990569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注意力集中在区分类别的局部特征上</a:t>
            </a:r>
            <a:endParaRPr lang="zh-CN" altLang="en-US" sz="28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4" name="图版外框"/>
          <p:cNvSpPr/>
          <p:nvPr/>
        </p:nvSpPr>
        <p:spPr>
          <a:xfrm>
            <a:off x="777240" y="2106512"/>
            <a:ext cx="3332378" cy="2965015"/>
          </a:xfrm>
          <a:prstGeom prst="rect">
            <a:avLst/>
          </a:prstGeom>
          <a:solidFill>
            <a:srgbClr val="FBF8F1"/>
          </a:solidFill>
          <a:ln w="12700" cap="rnd">
            <a:solidFill>
              <a:srgbClr val="B39363"/>
            </a:solidFill>
            <a:round/>
          </a:ln>
        </p:spPr>
      </p:sp>
      <p:sp>
        <p:nvSpPr>
          <p:cNvPr id="5" name="图版内框"/>
          <p:cNvSpPr/>
          <p:nvPr/>
        </p:nvSpPr>
        <p:spPr>
          <a:xfrm>
            <a:off x="841248" y="2170520"/>
            <a:ext cx="3204362" cy="2836999"/>
          </a:xfrm>
          <a:prstGeom prst="rect">
            <a:avLst/>
          </a:prstGeom>
          <a:noFill/>
          <a:ln w="6350" cap="rnd">
            <a:solidFill>
              <a:srgbClr val="B39363"/>
            </a:solidFill>
            <a:round/>
          </a:ln>
        </p:spPr>
      </p:sp>
      <p:pic>
        <p:nvPicPr>
          <p:cNvPr id="6" name="图片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440740"/>
            <a:ext cx="3003194" cy="2296560"/>
          </a:xfrm>
          <a:prstGeom prst="rect">
            <a:avLst/>
          </a:prstGeom>
        </p:spPr>
      </p:pic>
      <p:sp>
        <p:nvSpPr>
          <p:cNvPr id="7" name="图注"/>
          <p:cNvSpPr txBox="1"/>
          <p:nvPr/>
        </p:nvSpPr>
        <p:spPr>
          <a:xfrm>
            <a:off x="777240" y="5181256"/>
            <a:ext cx="333237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solidFill>
                  <a:srgbClr val="A8533A"/>
                </a:solidFill>
                <a:latin typeface="Noto Serif SC Medium"/>
                <a:ea typeface="Noto Serif SC Medium"/>
                <a:cs typeface="Noto Serif SC Medium"/>
              </a:rPr>
              <a:t>图 a　</a:t>
            </a:r>
            <a:r>
              <a:rPr lang="zh-CN" altLang="en-US" sz="1250" b="0" i="0" dirty="0" spc="-50">
                <a:solidFill>
                  <a:srgbClr val="766C5F"/>
                </a:solidFill>
                <a:latin typeface="Garamond"/>
                <a:ea typeface="华文楷体"/>
                <a:cs typeface="Garamond"/>
              </a:rPr>
              <a:t>查询图像上的原型注意力</a:t>
            </a:r>
            <a:endParaRPr lang="zh-CN" altLang="en-US" sz="1250" b="0" i="0" dirty="0" spc="-50">
              <a:solidFill>
                <a:srgbClr val="766C5F"/>
              </a:solidFill>
              <a:latin typeface="Garamond"/>
              <a:ea typeface="华文楷体"/>
              <a:cs typeface="Garamond"/>
            </a:endParaRPr>
          </a:p>
        </p:txBody>
      </p:sp>
      <p:sp>
        <p:nvSpPr>
          <p:cNvPr id="8" name="图版外框"/>
          <p:cNvSpPr/>
          <p:nvPr/>
        </p:nvSpPr>
        <p:spPr>
          <a:xfrm>
            <a:off x="4429658" y="2106512"/>
            <a:ext cx="3332378" cy="2965015"/>
          </a:xfrm>
          <a:prstGeom prst="rect">
            <a:avLst/>
          </a:prstGeom>
          <a:solidFill>
            <a:srgbClr val="FBF8F1"/>
          </a:solidFill>
          <a:ln w="12700" cap="rnd">
            <a:solidFill>
              <a:srgbClr val="B39363"/>
            </a:solidFill>
            <a:round/>
          </a:ln>
        </p:spPr>
      </p:sp>
      <p:sp>
        <p:nvSpPr>
          <p:cNvPr id="9" name="图版内框"/>
          <p:cNvSpPr/>
          <p:nvPr/>
        </p:nvSpPr>
        <p:spPr>
          <a:xfrm>
            <a:off x="4493666" y="2170520"/>
            <a:ext cx="3204362" cy="2836999"/>
          </a:xfrm>
          <a:prstGeom prst="rect">
            <a:avLst/>
          </a:prstGeom>
          <a:noFill/>
          <a:ln w="6350" cap="rnd">
            <a:solidFill>
              <a:srgbClr val="B39363"/>
            </a:solidFill>
            <a:round/>
          </a:ln>
        </p:spPr>
      </p:sp>
      <p:pic>
        <p:nvPicPr>
          <p:cNvPr id="10" name="图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250" y="2440740"/>
            <a:ext cx="3003194" cy="2296560"/>
          </a:xfrm>
          <a:prstGeom prst="rect">
            <a:avLst/>
          </a:prstGeom>
        </p:spPr>
      </p:pic>
      <p:sp>
        <p:nvSpPr>
          <p:cNvPr id="11" name="图注"/>
          <p:cNvSpPr txBox="1"/>
          <p:nvPr/>
        </p:nvSpPr>
        <p:spPr>
          <a:xfrm>
            <a:off x="4429658" y="5181256"/>
            <a:ext cx="333237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solidFill>
                  <a:srgbClr val="A8533A"/>
                </a:solidFill>
                <a:latin typeface="Noto Serif SC Medium"/>
                <a:ea typeface="Noto Serif SC Medium"/>
                <a:cs typeface="Noto Serif SC Medium"/>
              </a:rPr>
              <a:t>图 b　</a:t>
            </a:r>
            <a:r>
              <a:rPr lang="zh-CN" altLang="en-US" sz="1250" b="0" i="0" dirty="0" spc="-50">
                <a:solidFill>
                  <a:srgbClr val="766C5F"/>
                </a:solidFill>
                <a:latin typeface="Garamond"/>
                <a:ea typeface="华文楷体"/>
                <a:cs typeface="Garamond"/>
              </a:rPr>
              <a:t>5-way 测试的混淆矩阵</a:t>
            </a:r>
            <a:endParaRPr lang="zh-CN" altLang="en-US" sz="1250" b="0" i="0" dirty="0" spc="-50">
              <a:solidFill>
                <a:srgbClr val="766C5F"/>
              </a:solidFill>
              <a:latin typeface="Garamond"/>
              <a:ea typeface="华文楷体"/>
              <a:cs typeface="Garamond"/>
            </a:endParaRPr>
          </a:p>
        </p:txBody>
      </p:sp>
      <p:sp>
        <p:nvSpPr>
          <p:cNvPr id="12" name="图版外框"/>
          <p:cNvSpPr/>
          <p:nvPr/>
        </p:nvSpPr>
        <p:spPr>
          <a:xfrm>
            <a:off x="8082077" y="2106512"/>
            <a:ext cx="3332378" cy="2965015"/>
          </a:xfrm>
          <a:prstGeom prst="rect">
            <a:avLst/>
          </a:prstGeom>
          <a:solidFill>
            <a:srgbClr val="FBF8F1"/>
          </a:solidFill>
          <a:ln w="12700" cap="rnd">
            <a:solidFill>
              <a:srgbClr val="B39363"/>
            </a:solidFill>
            <a:round/>
          </a:ln>
        </p:spPr>
      </p:sp>
      <p:sp>
        <p:nvSpPr>
          <p:cNvPr id="13" name="图版内框"/>
          <p:cNvSpPr/>
          <p:nvPr/>
        </p:nvSpPr>
        <p:spPr>
          <a:xfrm>
            <a:off x="8146085" y="2170520"/>
            <a:ext cx="3204362" cy="2836999"/>
          </a:xfrm>
          <a:prstGeom prst="rect">
            <a:avLst/>
          </a:prstGeom>
          <a:noFill/>
          <a:ln w="6350" cap="rnd">
            <a:solidFill>
              <a:srgbClr val="B39363"/>
            </a:solidFill>
            <a:round/>
          </a:ln>
        </p:spPr>
      </p:sp>
      <p:pic>
        <p:nvPicPr>
          <p:cNvPr id="14" name="图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669" y="2440740"/>
            <a:ext cx="3003194" cy="2296560"/>
          </a:xfrm>
          <a:prstGeom prst="rect">
            <a:avLst/>
          </a:prstGeom>
        </p:spPr>
      </p:pic>
      <p:sp>
        <p:nvSpPr>
          <p:cNvPr id="15" name="图注"/>
          <p:cNvSpPr txBox="1"/>
          <p:nvPr/>
        </p:nvSpPr>
        <p:spPr>
          <a:xfrm>
            <a:off x="8082077" y="5181256"/>
            <a:ext cx="333237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solidFill>
                  <a:srgbClr val="A8533A"/>
                </a:solidFill>
                <a:latin typeface="Noto Serif SC Medium"/>
                <a:ea typeface="Noto Serif SC Medium"/>
                <a:cs typeface="Noto Serif SC Medium"/>
              </a:rPr>
              <a:t>图 c　</a:t>
            </a:r>
            <a:r>
              <a:rPr lang="zh-CN" altLang="en-US" sz="1250" b="0" i="0" dirty="0" spc="-50">
                <a:solidFill>
                  <a:srgbClr val="766C5F"/>
                </a:solidFill>
                <a:latin typeface="Garamond"/>
                <a:ea typeface="华文楷体"/>
                <a:cs typeface="Garamond"/>
              </a:rPr>
              <a:t>查询与各类文本原型的相似度</a:t>
            </a:r>
            <a:endParaRPr lang="zh-CN" altLang="en-US" sz="1250" b="0" i="0" dirty="0" spc="-50">
              <a:solidFill>
                <a:srgbClr val="766C5F"/>
              </a:solidFill>
              <a:latin typeface="Garamond"/>
              <a:ea typeface="华文楷体"/>
              <a:cs typeface="Garamo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总结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标题"/>
          <p:cNvSpPr txBox="1"/>
          <p:nvPr/>
        </p:nvSpPr>
        <p:spPr>
          <a:xfrm>
            <a:off x="777240" y="804672"/>
            <a:ext cx="67665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原型对齐让小样本多模态推理更可靠</a:t>
            </a:r>
            <a:endParaRPr lang="zh-CN" altLang="en-US" sz="28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4" name="序号"/>
          <p:cNvSpPr txBox="1"/>
          <p:nvPr/>
        </p:nvSpPr>
        <p:spPr>
          <a:xfrm>
            <a:off x="777240" y="1792224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I</a:t>
            </a:r>
            <a:endParaRPr lang="zh-CN" altLang="en-US" sz="2200" b="0" i="0" dirty="0">
              <a:solidFill>
                <a:srgbClr val="A8533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5" name="要点"/>
          <p:cNvSpPr txBox="1"/>
          <p:nvPr/>
        </p:nvSpPr>
        <p:spPr>
          <a:xfrm>
            <a:off x="1463040" y="1828800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5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统一表征</a:t>
            </a:r>
            <a:endParaRPr lang="zh-CN" altLang="en-US" sz="175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6" name="要点说明"/>
          <p:cNvSpPr txBox="1"/>
          <p:nvPr/>
        </p:nvSpPr>
        <p:spPr>
          <a:xfrm>
            <a:off x="1463040" y="226771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视觉与语言共享原型空间，跨模态比较不再失真。</a:t>
            </a:r>
            <a:endParaRPr lang="zh-CN" altLang="en-US" sz="13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cxnSp>
        <p:nvCxnSpPr>
          <p:cNvPr id="7" name="分隔线"/>
          <p:cNvCxnSpPr/>
          <p:nvPr/>
        </p:nvCxnSpPr>
        <p:spPr>
          <a:xfrm>
            <a:off x="1463040" y="2852928"/>
            <a:ext cx="5486400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8" name="序号"/>
          <p:cNvSpPr txBox="1"/>
          <p:nvPr/>
        </p:nvSpPr>
        <p:spPr>
          <a:xfrm>
            <a:off x="777240" y="3054096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II</a:t>
            </a:r>
            <a:endParaRPr lang="zh-CN" altLang="en-US" sz="2200" b="0" i="0" dirty="0">
              <a:solidFill>
                <a:srgbClr val="A8533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9" name="要点"/>
          <p:cNvSpPr txBox="1"/>
          <p:nvPr/>
        </p:nvSpPr>
        <p:spPr>
          <a:xfrm>
            <a:off x="1463040" y="3090672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5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稳健泛化</a:t>
            </a:r>
            <a:endParaRPr lang="zh-CN" altLang="en-US" sz="175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0" name="要点说明"/>
          <p:cNvSpPr txBox="1"/>
          <p:nvPr/>
        </p:nvSpPr>
        <p:spPr>
          <a:xfrm>
            <a:off x="1463040" y="3529584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1-shot 准确率提升 7.4 个点，对新类别同样有效。</a:t>
            </a:r>
            <a:endParaRPr lang="zh-CN" altLang="en-US" sz="13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cxnSp>
        <p:nvCxnSpPr>
          <p:cNvPr id="11" name="分隔线"/>
          <p:cNvCxnSpPr/>
          <p:nvPr/>
        </p:nvCxnSpPr>
        <p:spPr>
          <a:xfrm>
            <a:off x="1463040" y="4114800"/>
            <a:ext cx="5486400" cy="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  <p:sp>
        <p:nvSpPr>
          <p:cNvPr id="12" name="序号"/>
          <p:cNvSpPr txBox="1"/>
          <p:nvPr/>
        </p:nvSpPr>
        <p:spPr>
          <a:xfrm>
            <a:off x="777240" y="431596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III</a:t>
            </a:r>
            <a:endParaRPr lang="zh-CN" altLang="en-US" sz="2200" b="0" i="0" dirty="0">
              <a:solidFill>
                <a:srgbClr val="A8533A"/>
              </a:solidFill>
              <a:latin typeface="Goudy Old Style"/>
              <a:ea typeface="Noto Serif SC"/>
              <a:cs typeface="Goudy Old Style"/>
            </a:endParaRPr>
          </a:p>
        </p:txBody>
      </p:sp>
      <p:sp>
        <p:nvSpPr>
          <p:cNvPr id="13" name="要点"/>
          <p:cNvSpPr txBox="1"/>
          <p:nvPr/>
        </p:nvSpPr>
        <p:spPr>
          <a:xfrm>
            <a:off x="1463040" y="4352544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50" b="0" i="0" dirty="0">
                <a:solidFill>
                  <a:srgbClr val="2B2620"/>
                </a:solidFill>
                <a:latin typeface="Noto Serif SC Medium"/>
                <a:ea typeface="Noto Serif SC Medium"/>
                <a:cs typeface="Noto Serif SC Medium"/>
              </a:rPr>
              <a:t>可以追溯</a:t>
            </a:r>
            <a:endParaRPr lang="zh-CN" altLang="en-US" sz="1750" b="0" i="0" dirty="0">
              <a:solidFill>
                <a:srgbClr val="2B2620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sp>
        <p:nvSpPr>
          <p:cNvPr id="14" name="要点说明"/>
          <p:cNvSpPr txBox="1"/>
          <p:nvPr/>
        </p:nvSpPr>
        <p:spPr>
          <a:xfrm>
            <a:off x="1463040" y="4791456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每次判断都能对应到最近的原型与其文本描述。</a:t>
            </a:r>
            <a:endParaRPr lang="zh-CN" altLang="en-US" sz="13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15" name="装饰 · 桂冠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6680" y="960120"/>
            <a:ext cx="3429000" cy="3429000"/>
          </a:xfrm>
          <a:prstGeom prst="rect">
            <a:avLst/>
          </a:prstGeom>
        </p:spPr>
      </p:pic>
      <p:pic>
        <p:nvPicPr>
          <p:cNvPr id="16" name="装饰 · 火漆印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54796" y="1945386"/>
            <a:ext cx="1572768" cy="1572768"/>
          </a:xfrm>
          <a:prstGeom prst="rect">
            <a:avLst/>
          </a:prstGeom>
        </p:spPr>
      </p:pic>
      <p:sp>
        <p:nvSpPr>
          <p:cNvPr id="17" name="致谢"/>
          <p:cNvSpPr txBox="1"/>
          <p:nvPr/>
        </p:nvSpPr>
        <p:spPr>
          <a:xfrm>
            <a:off x="7726680" y="4535424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谢谢聆听</a:t>
            </a:r>
            <a:endParaRPr lang="zh-CN" altLang="en-US" sz="22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sp>
        <p:nvSpPr>
          <p:cNvPr id="18" name="联系方式"/>
          <p:cNvSpPr txBox="1"/>
          <p:nvPr/>
        </p:nvSpPr>
        <p:spPr>
          <a:xfrm>
            <a:off x="7452360" y="5047488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66C5F"/>
                </a:solidFill>
                <a:latin typeface="Noto Serif SC"/>
                <a:ea typeface="Noto Serif SC"/>
                <a:cs typeface="Noto Serif SC"/>
              </a:rPr>
              <a:t>李毅 · liyi@mail.ustc.edu.cn</a:t>
            </a:r>
            <a:endParaRPr lang="zh-CN" altLang="en-US" sz="1250" b="0" i="0" dirty="0">
              <a:solidFill>
                <a:srgbClr val="766C5F"/>
              </a:solidFill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905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参考文献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文献列表"/>
          <p:cNvSpPr txBox="1"/>
          <p:nvPr/>
        </p:nvSpPr>
        <p:spPr>
          <a:xfrm>
            <a:off x="777240" y="1143000"/>
            <a:ext cx="5090008" cy="4727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 marL="384048" indent="-38404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25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[1]</a:t>
            </a: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　O. Vinyals, C. Blundell, T. Lillicrap, K. Kavukcuoglu, D. Wierstra. Matching networks for one shot learning. NeurIPS, 2016.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 marL="384048" indent="-38404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25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[2]</a:t>
            </a: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　J. Snell, K. Swersky, R. Zemel. Prototypical networks for few-shot learning. NeurIPS, 2017.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 marL="384048" indent="-38404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25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[3]</a:t>
            </a: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　C. Finn, P. Abbeel, S. Levine. Model-agnostic meta-learning for fast adaptation of deep networks. ICML, 2017.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 marL="384048" indent="-38404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25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[4]</a:t>
            </a: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　F. Sung, Y. Yang, L. Zhang, T. Xiang, P. H. S. Torr, T. M. Hospedales. Learning to compare: Relation network for few-shot learning. CVPR, 2018.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4" name="文献列表"/>
          <p:cNvSpPr txBox="1"/>
          <p:nvPr/>
        </p:nvSpPr>
        <p:spPr>
          <a:xfrm>
            <a:off x="6324448" y="1143000"/>
            <a:ext cx="5090008" cy="4727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 marL="384048" indent="-38404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25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[5]</a:t>
            </a: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　A. Radford, J. W. Kim, C. Hallacy, et al. Learning transferable visual models from natural language supervision. ICML, 2021.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 marL="384048" indent="-38404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25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[6]</a:t>
            </a: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　R. Zhang, W. Zhang, R. Fang, et al. Tip-Adapter: Training-free adaption of CLIP for few-shot classification. ECCV, 2022.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 marL="384048" indent="-38404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25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[7]</a:t>
            </a: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　A. Dosovitskiy, L. Beyer, A. Kolesnikov, et al. An image is worth 16x16 words: Transformers for image recognition at scale. ICLR, 2021.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 marL="384048" indent="-38404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250" b="0" i="0" dirty="0">
                <a:solidFill>
                  <a:srgbClr val="A8533A"/>
                </a:solidFill>
                <a:latin typeface="Goudy Old Style"/>
                <a:ea typeface="Noto Serif SC"/>
                <a:cs typeface="Goudy Old Style"/>
              </a:rPr>
              <a:t>[8]</a:t>
            </a:r>
            <a:r>
              <a:rPr lang="zh-CN" altLang="en-US" sz="12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　J. Devlin, M.-W. Chang, K. Lee, K. Toutanova. BERT: Pre-training of deep bidirectional transformers for language understanding. NAACL, 2019.</a:t>
            </a:r>
            <a:endParaRPr lang="zh-CN" altLang="en-US" sz="12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  <p:cxnSp>
        <p:nvCxnSpPr>
          <p:cNvPr id="5" name="分栏线"/>
          <p:cNvCxnSpPr/>
          <p:nvPr/>
        </p:nvCxnSpPr>
        <p:spPr>
          <a:xfrm>
            <a:off x="6095848" y="1188720"/>
            <a:ext cx="0" cy="4480560"/>
          </a:xfrm>
          <a:prstGeom prst="line">
            <a:avLst/>
          </a:prstGeom>
          <a:ln w="9525" cap="rnd">
            <a:solidFill>
              <a:srgbClr val="D3C7B1"/>
            </a:solidFill>
            <a:round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眉题"/>
          <p:cNvSpPr txBox="1"/>
          <p:nvPr/>
        </p:nvSpPr>
        <p:spPr>
          <a:xfrm>
            <a:off x="777240" y="548640"/>
            <a:ext cx="9052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A8533A"/>
                </a:solidFill>
                <a:latin typeface="Goudy Old Style"/>
                <a:ea typeface="Noto Serif SC Medium"/>
                <a:cs typeface="Goudy Old Style"/>
              </a:rPr>
              <a:t>附录 A：超参数</a:t>
            </a:r>
            <a:endParaRPr lang="zh-CN" altLang="en-US" sz="1200" b="0" i="0" dirty="0" spc="300">
              <a:solidFill>
                <a:srgbClr val="A8533A"/>
              </a:solidFill>
              <a:latin typeface="Goudy Old Style"/>
              <a:ea typeface="Noto Serif SC Medium"/>
              <a:cs typeface="Goudy Old Style"/>
            </a:endParaRPr>
          </a:p>
        </p:txBody>
      </p:sp>
      <p:sp>
        <p:nvSpPr>
          <p:cNvPr id="3" name="标题"/>
          <p:cNvSpPr txBox="1"/>
          <p:nvPr/>
        </p:nvSpPr>
        <p:spPr>
          <a:xfrm>
            <a:off x="777240" y="80467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dirty="0">
                <a:solidFill>
                  <a:srgbClr val="2B2620"/>
                </a:solidFill>
                <a:latin typeface="Noto Serif SC SemiBold"/>
                <a:ea typeface="Noto Serif SC SemiBold"/>
                <a:cs typeface="Noto Serif SC SemiBold"/>
              </a:rPr>
              <a:t>温度与对齐权重的敏感性</a:t>
            </a:r>
            <a:endParaRPr lang="zh-CN" altLang="en-US" sz="2800" b="0" i="0" dirty="0">
              <a:solidFill>
                <a:srgbClr val="2B2620"/>
              </a:solidFill>
              <a:latin typeface="Noto Serif SC SemiBold"/>
              <a:ea typeface="Noto Serif SC SemiBold"/>
              <a:cs typeface="Noto Serif SC SemiBold"/>
            </a:endParaRPr>
          </a:p>
        </p:txBody>
      </p:sp>
      <p:pic>
        <p:nvPicPr>
          <p:cNvPr id="4" name="装饰 · 书签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0" y="228600"/>
            <a:ext cx="420624" cy="1143000"/>
          </a:xfrm>
          <a:prstGeom prst="rect">
            <a:avLst/>
          </a:prstGeom>
        </p:spPr>
      </p:pic>
      <p:sp>
        <p:nvSpPr>
          <p:cNvPr id="5" name="附录标签"/>
          <p:cNvSpPr txBox="1"/>
          <p:nvPr/>
        </p:nvSpPr>
        <p:spPr>
          <a:xfrm>
            <a:off x="10058400" y="274320"/>
            <a:ext cx="420624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 vert="eaVert">
            <a:noAutofit/>
          </a:bodyPr>
          <a:lstStyle/>
          <a:p>
            <a:pPr algn="ctr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 spc="300">
                <a:solidFill>
                  <a:srgbClr val="FBF3E6"/>
                </a:solidFill>
                <a:latin typeface="Noto Serif SC Medium"/>
                <a:ea typeface="Noto Serif SC Medium"/>
                <a:cs typeface="Noto Serif SC Medium"/>
              </a:rPr>
              <a:t>附录</a:t>
            </a:r>
            <a:endParaRPr lang="zh-CN" altLang="en-US" sz="1200" b="0" i="0" dirty="0" spc="300">
              <a:solidFill>
                <a:srgbClr val="FBF3E6"/>
              </a:solidFill>
              <a:latin typeface="Noto Serif SC Medium"/>
              <a:ea typeface="Noto Serif SC Medium"/>
              <a:cs typeface="Noto Serif SC Medium"/>
            </a:endParaRPr>
          </a:p>
        </p:txBody>
      </p:sp>
      <p:graphicFrame>
        <p:nvGraphicFramePr>
          <p:cNvPr id="6" name="附录表"/>
          <p:cNvGraphicFramePr>
            <a:graphicFrameLocks noGrp="1"/>
          </p:cNvGraphicFramePr>
          <p:nvPr/>
        </p:nvGraphicFramePr>
        <p:xfrm>
          <a:off x="777240" y="1737360"/>
          <a:ext cx="6035040" cy="2487168"/>
        </p:xfrm>
        <a:graphic>
          <a:graphicData uri="http://schemas.openxmlformats.org/drawingml/2006/table">
            <a:tbl>
              <a:tblPr firstRow="1" bandRow="0"/>
              <a:tblGrid>
                <a:gridCol w="1366799"/>
                <a:gridCol w="1556080"/>
                <a:gridCol w="1556080"/>
                <a:gridCol w="1556080"/>
              </a:tblGrid>
              <a:tr h="512064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τ</a:t>
                      </a:r>
                      <a:endParaRPr lang="zh-CN" altLang="en-US" sz="125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λ = 0.1</a:t>
                      </a:r>
                      <a:endParaRPr lang="zh-CN" altLang="en-US" sz="125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λ = 0.5</a:t>
                      </a:r>
                      <a:endParaRPr lang="zh-CN" altLang="en-US" sz="125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2B2620"/>
                          </a:solidFill>
                          <a:latin typeface="Noto Serif SC Medium"/>
                          <a:ea typeface="Noto Serif SC Medium"/>
                          <a:cs typeface="Noto Serif SC Medium"/>
                        </a:rPr>
                        <a:t>λ = 1.0</a:t>
                      </a:r>
                      <a:endParaRPr lang="zh-CN" altLang="en-US" sz="1250" b="0" i="0" dirty="0">
                        <a:solidFill>
                          <a:srgbClr val="2B2620"/>
                        </a:solidFill>
                        <a:latin typeface="Noto Serif SC Medium"/>
                        <a:ea typeface="Noto Serif SC Medium"/>
                        <a:cs typeface="Noto Serif SC Medium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2B2620"/>
                      </a:solidFill>
                      <a:prstDash val="solid"/>
                    </a:lnT>
                    <a:lnB w="7620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</a:tr>
              <a:tr h="493776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0.05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54.9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55.8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55.1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93776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0.1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55.6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56.8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56.0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93776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0.2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55.0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56.1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55.4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93776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0.5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53.2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54.1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ctr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i="0" dirty="0">
                          <a:solidFill>
                            <a:srgbClr val="3E3830"/>
                          </a:solidFill>
                          <a:latin typeface="Noto Serif SC"/>
                          <a:ea typeface="Noto Serif SC"/>
                          <a:cs typeface="Noto Serif SC"/>
                        </a:rPr>
                        <a:t>53.7</a:t>
                      </a:r>
                      <a:endParaRPr lang="zh-CN" altLang="en-US" sz="1250" b="0" i="0" dirty="0">
                        <a:solidFill>
                          <a:srgbClr val="3E3830"/>
                        </a:solidFill>
                        <a:latin typeface="Noto Serif SC"/>
                        <a:ea typeface="Noto Serif SC"/>
                        <a:cs typeface="Noto Serif SC"/>
                      </a:endParaR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2B262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附录要点"/>
          <p:cNvSpPr txBox="1"/>
          <p:nvPr/>
        </p:nvSpPr>
        <p:spPr>
          <a:xfrm>
            <a:off x="7269480" y="1783080"/>
            <a:ext cx="4144975" cy="4133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eaLnBrk="1" latinLnBrk="0" hangingPunct="1" marL="274320" indent="-274320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Clr>
                <a:srgbClr val="B39363"/>
              </a:buClr>
              <a:buSzPct val="60000"/>
              <a:buFont typeface="Segoe UI Symbol"/>
              <a:buChar char="◆"/>
            </a:pP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表中为 miniImageNet 5-way 1-shot 准确率（%），每格 600 个测试任务取平均。</a:t>
            </a:r>
            <a:endParaRPr lang="zh-CN" altLang="en-US" sz="13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 marL="274320" indent="-274320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Clr>
                <a:srgbClr val="B39363"/>
              </a:buClr>
              <a:buSzPct val="60000"/>
              <a:buFont typeface="Segoe UI Symbol"/>
              <a:buChar char="◆"/>
            </a:pP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τ 过小时梯度集中在最近原型上，训练早期不稳定；τ 过大时分布过平，类间区分变弱。</a:t>
            </a:r>
            <a:endParaRPr lang="zh-CN" altLang="en-US" sz="13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 marL="274320" indent="-274320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Clr>
                <a:srgbClr val="B39363"/>
              </a:buClr>
              <a:buSzPct val="60000"/>
              <a:buFont typeface="Segoe UI Symbol"/>
              <a:buChar char="◆"/>
            </a:pP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λ 在 0.3–0.7 之间结果差异小于 0.5 个点，正文统一取 0.5。</a:t>
            </a:r>
            <a:endParaRPr lang="zh-CN" altLang="en-US" sz="13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  <a:p>
            <a:pPr algn="l" eaLnBrk="1" latinLnBrk="0" hangingPunct="1" marL="274320" indent="-274320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Clr>
                <a:srgbClr val="B39363"/>
              </a:buClr>
              <a:buSzPct val="60000"/>
              <a:buFont typeface="Segoe UI Symbol"/>
              <a:buChar char="◆"/>
            </a:pPr>
            <a:r>
              <a:rPr lang="zh-CN" altLang="en-US" sz="1300" b="0" i="0" dirty="0">
                <a:solidFill>
                  <a:srgbClr val="3E3830"/>
                </a:solidFill>
                <a:latin typeface="Noto Serif SC"/>
                <a:ea typeface="Noto Serif SC"/>
                <a:cs typeface="Noto Serif SC"/>
              </a:rPr>
              <a:t>所有实验固定随机种子 3407，主干冻结，只训练投影层与对齐模块。</a:t>
            </a:r>
            <a:endParaRPr lang="zh-CN" altLang="en-US" sz="1300" b="0" i="0" dirty="0">
              <a:solidFill>
                <a:srgbClr val="3E3830"/>
              </a:solidFill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mdustc Codex">
  <a:themeElements>
    <a:clrScheme xmlns:p="http://schemas.openxmlformats.org/presentationml/2006/main" xmlns:r="http://schemas.openxmlformats.org/officeDocument/2006/relationships" name="mmdustc Codex">
      <a:dk1>
        <a:srgbClr val="2B2620"/>
      </a:dk1>
      <a:lt1>
        <a:srgbClr val="FFFFFF"/>
      </a:lt1>
      <a:dk2>
        <a:srgbClr val="3E3830"/>
      </a:dk2>
      <a:lt2>
        <a:srgbClr val="F7F3EA"/>
      </a:lt2>
      <a:accent1>
        <a:srgbClr val="A8533A"/>
      </a:accent1>
      <a:accent2>
        <a:srgbClr val="4F6D8C"/>
      </a:accent2>
      <a:accent3>
        <a:srgbClr val="6E8A5F"/>
      </a:accent3>
      <a:accent4>
        <a:srgbClr val="C2964B"/>
      </a:accent4>
      <a:accent5>
        <a:srgbClr val="86587A"/>
      </a:accent5>
      <a:accent6>
        <a:srgbClr val="8C8578"/>
      </a:accent6>
      <a:hlink>
        <a:srgbClr val="A8533A"/>
      </a:hlink>
      <a:folHlink>
        <a:srgbClr val="86587A"/>
      </a:folHlink>
    </a:clrScheme>
    <a:fontScheme xmlns:p="http://schemas.openxmlformats.org/presentationml/2006/main" xmlns:r="http://schemas.openxmlformats.org/officeDocument/2006/relationships" name="mmdustc Codex">
      <a:majorFont>
        <a:latin typeface="Noto Serif SC SemiBold"/>
        <a:ea typeface="Noto Serif SC SemiBold"/>
        <a:cs typeface=""/>
        <a:font script="Hans" typeface="Noto Serif SC SemiBold"/>
      </a:majorFont>
      <a:minorFont>
        <a:latin typeface="Noto Serif SC"/>
        <a:ea typeface="Noto Serif SC"/>
        <a:cs typeface=""/>
        <a:font script="Hans" typeface="Noto Serif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面向小样本场景的多模态认知模型</dc:title>
  <dc:subject/>
  <dc:creator>李毅</dc:creator>
  <cp:keywords/>
  <dc:description>mmdustc Codex template</dc:description>
  <cp:lastModifiedBy>李毅</cp:lastModifiedBy>
  <cp:revision>1</cp:revision>
  <dcterms:created xsi:type="dcterms:W3CDTF">2026-10-29T22:55:12Z</dcterms:created>
  <dcterms:modified xsi:type="dcterms:W3CDTF">2026-10-29T22:55:12Z</dcterms:modified>
  <cp:category/>
</cp:coreProperties>
</file>